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TechnicalScore</c:v>
                </c:pt>
              </c:strCache>
            </c:strRef>
          </c:tx>
          <c:spPr>
            <a:solidFill>
              <a:srgbClr val="028090"/>
            </a:solidFill>
            <a:effectLst/>
          </c:spPr>
          <c:invertIfNegative val="0"/>
          <c:dLbls>
            <c:numFmt formatCode="0.000" sourceLinked="0"/>
            <c:txPr>
              <a:bodyPr/>
              <a:lstStyle/>
              <a:p>
                <a:pPr>
                  <a:defRPr b="0" i="0" strike="noStrike" sz="1050" u="none">
                    <a:solidFill>
                      <a:srgbClr val="0B2027"/>
                    </a:solidFill>
                    <a:latin typeface="Calibri"/>
                  </a:defRPr>
                </a:pPr>
              </a:p>
            </c:txPr>
            <c:showLegendKey val="0"/>
            <c:showVal val="1"/>
            <c:showCatName val="0"/>
            <c:showSerName val="0"/>
            <c:showPercent val="0"/>
            <c:showBubbleSize val="0"/>
            <c:showLeaderLines val="0"/>
          </c:dLbls>
          <c:dPt>
            <c:idx val="0"/>
            <c:invertIfNegative val="0"/>
            <c:bubble3D val="0"/>
            <c:spPr>
              <a:solidFill>
                <a:srgbClr val="028090"/>
              </a:solidFill>
              <a:effectLst/>
            </c:spPr>
          </c:dPt>
          <c:dPt>
            <c:idx val="1"/>
            <c:invertIfNegative val="0"/>
            <c:bubble3D val="0"/>
            <c:spPr>
              <a:solidFill>
                <a:srgbClr val="00A896"/>
              </a:solidFill>
              <a:effectLst/>
            </c:spPr>
          </c:dPt>
          <c:dPt>
            <c:idx val="2"/>
            <c:invertIfNegative val="0"/>
            <c:bubble3D val="0"/>
            <c:spPr>
              <a:solidFill>
                <a:srgbClr val="00A896"/>
              </a:solidFill>
              <a:effectLst/>
            </c:spPr>
          </c:dPt>
          <c:dPt>
            <c:idx val="3"/>
            <c:invertIfNegative val="0"/>
            <c:bubble3D val="0"/>
            <c:spPr>
              <a:solidFill>
                <a:srgbClr val="00A896"/>
              </a:solidFill>
              <a:effectLst/>
            </c:spPr>
          </c:dPt>
          <c:dPt>
            <c:idx val="4"/>
            <c:invertIfNegative val="0"/>
            <c:bubble3D val="0"/>
            <c:spPr>
              <a:solidFill>
                <a:srgbClr val="02C39A"/>
              </a:solidFill>
              <a:effectLst/>
            </c:spPr>
          </c:dPt>
          <c:dPt>
            <c:idx val="5"/>
            <c:invertIfNegative val="0"/>
            <c:bubble3D val="0"/>
            <c:spPr>
              <a:solidFill>
                <a:srgbClr val="02C39A"/>
              </a:solidFill>
              <a:effectLst/>
            </c:spPr>
          </c:dPt>
          <c:dPt>
            <c:idx val="6"/>
            <c:invertIfNegative val="0"/>
            <c:bubble3D val="0"/>
            <c:spPr>
              <a:solidFill>
                <a:srgbClr val="02C39A"/>
              </a:solidFill>
              <a:effectLst/>
            </c:spPr>
          </c:dPt>
          <c:cat>
            <c:multiLvlStrRef>
              <c:f>Sheet1!$A$2:$A$8</c:f>
              <c:multiLvlStrCache>
                <c:ptCount val="7"/>
                <c:lvl>
                  <c:pt idx="0">
                    <c:v>Baseline</c:v>
                  </c:pt>
                  <c:pt idx="1">
                    <c:v>Working
agent</c:v>
                  </c:pt>
                  <c:pt idx="2">
                    <c:v>Bucket
fix</c:v>
                  </c:pt>
                  <c:pt idx="3">
                    <c:v>Override
fix</c:v>
                  </c:pt>
                  <c:pt idx="4">
                    <c:v>Constraint
coverage</c:v>
                  </c:pt>
                  <c:pt idx="5">
                    <c:v>Popularity
prior</c:v>
                  </c:pt>
                  <c:pt idx="6">
                    <c:v>Category
match</c:v>
                  </c:pt>
                </c:lvl>
              </c:multiLvlStrCache>
            </c:multiLvlStrRef>
          </c:cat>
          <c:val>
            <c:numRef>
              <c:f>Sheet1!$B$2:$B$8</c:f>
              <c:numCache>
                <c:formatCode>General</c:formatCode>
                <c:ptCount val="7"/>
                <c:pt idx="0">
                  <c:v>0.107</c:v>
                </c:pt>
                <c:pt idx="1">
                  <c:v>0.562</c:v>
                </c:pt>
                <c:pt idx="2">
                  <c:v>0.728</c:v>
                </c:pt>
                <c:pt idx="3">
                  <c:v>0.744</c:v>
                </c:pt>
                <c:pt idx="4">
                  <c:v>0.79</c:v>
                </c:pt>
                <c:pt idx="5">
                  <c:v>0.859</c:v>
                </c:pt>
                <c:pt idx="6">
                  <c:v>0.876</c:v>
                </c:pt>
              </c:numCache>
            </c:numRef>
          </c:val>
        </c:ser>
        <c:dLbls>
          <c:numFmt formatCode="0.000" sourceLinked="0"/>
          <c:txPr>
            <a:bodyPr/>
            <a:lstStyle/>
            <a:p>
              <a:pPr>
                <a:defRPr b="0" i="0" strike="noStrike" sz="1050" u="none">
                  <a:solidFill>
                    <a:srgbClr val="0B202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2E9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nailong. We built a conversational shopping agent for Track 4. The provided BM25 baseline scores 0.107; we reached 0.876, an 8.2x improvement, using no LLM at all. Everything you'll see is deterministic and runs fully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never asked a question, so the simulated customer never disclosed anything, and the agent searched only the latest message. It was structurally incapable of learning. Our first move was to read the evaluator source to understand what information was even obtainable.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that shaped everything. With only the opening category, we reach 1.7% of targets. With everything the shopper will disclose, 85%. So the bottleneck was dialogue extraction, not clever ranking — and that let us demote two large planned components before building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deterministic. The key architectural decision is at the bottom: we return recommendations and a question every single turn, because the evaluator scores recommendations first. That makes asking free, which inverts the usual problem — the question isn't when to ask, it's when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was measure-first. Reproduce, diagnose, isolate one change at a time, sweep the weights, and reject ideas on evidence. Worth calling out: two of our most costly bugs passed every unit test and were only visible when we replayed a full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measured stages from 0.107 to 0.876. The largest single jump after the initial build was the bucket fix, worth 0.166 on its own — I'll explain that one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did most of the work. The second one — measuring which questions actually yield information — is where most of our turn-efficiency comes from. The third was our largest single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most to us. All three were in our plan. We built enough of each to measure it honestly and then cut it. The LLM reranker is the clearest case: it helped the sessions we were getting wrong but damaged the ones we were already getting right, netting negative. Our system is offline by evidence, not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numbers. MTTC averages 1.875 turns, but the distribution matters more than the mean: 60 percent of sessions resolve on the shopper's very first message, and 79 percent by the second. Browsing is perfect at 1.0. Boundary is our weakest at 0.9, but that's only ten sessions so we treat the estimate as noisy rather than tuning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was a design constraint, not an afterthought. Zero cost, zero network, standard library only, and anyone can reproduce 0.875866 in one command. The rules warn network access may be disabled at scoring time; our score is identical either way. We also hardened against the 800 sessions we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think stating our assumptions is part of the engineering. The popularity prior is the one place our ranking leans on how the benchmark was built, and we say so in the repo rather than hoping nobody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We split ownership across dialogue, retrieval, evaluation and integration — but everyone ran the evaluator themselves, which is why every number in this deck is reproducible by any of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0.107 to 0.876 across eight measured stages, with three planned components cut on evidence and no model calls anywhere. Everything on these slides is reproducible from the repository in one command.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p:bgPr>
    </p:bg>
    <p:spTree>
      <p:nvGrpSpPr>
        <p:cNvPr id="1" name=""/>
        <p:cNvGrpSpPr/>
        <p:nvPr/>
      </p:nvGrpSpPr>
      <p:grpSpPr>
        <a:xfrm>
          <a:off x="0" y="0"/>
          <a:ext cx="0" cy="0"/>
          <a:chOff x="0" y="0"/>
          <a:chExt cx="0" cy="0"/>
        </a:xfrm>
      </p:grpSpPr>
      <p:sp>
        <p:nvSpPr>
          <p:cNvPr id="2" name="Shape 0"/>
          <p:cNvSpPr/>
          <p:nvPr/>
        </p:nvSpPr>
        <p:spPr>
          <a:xfrm>
            <a:off x="566928" y="932688"/>
            <a:ext cx="1737360" cy="420624"/>
          </a:xfrm>
          <a:prstGeom prst="roundRect">
            <a:avLst>
              <a:gd name="adj" fmla="val 21739"/>
            </a:avLst>
          </a:prstGeom>
          <a:solidFill>
            <a:srgbClr val="02C39A"/>
          </a:solidFill>
          <a:ln w="12700">
            <a:solidFill>
              <a:srgbClr val="02C39A"/>
            </a:solidFill>
            <a:prstDash val="solid"/>
          </a:ln>
        </p:spPr>
      </p:sp>
      <p:sp>
        <p:nvSpPr>
          <p:cNvPr id="3" name="Text 1"/>
          <p:cNvSpPr txBox="1"/>
          <p:nvPr/>
        </p:nvSpPr>
        <p:spPr>
          <a:xfrm>
            <a:off x="566928" y="932688"/>
            <a:ext cx="1737360" cy="420624"/>
          </a:xfrm>
          <a:prstGeom prst="rect">
            <a:avLst/>
          </a:prstGeom>
          <a:noFill/>
          <a:ln/>
        </p:spPr>
        <p:txBody>
          <a:bodyPr wrap="square" lIns="0" tIns="0" rIns="0" bIns="0" rtlCol="0" anchor="ctr"/>
          <a:lstStyle/>
          <a:p>
            <a:pPr algn="ctr" indent="0" marL="0">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572768"/>
            <a:ext cx="877824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Shopping Copilot</a:t>
            </a:r>
            <a:endParaRPr lang="en-US" sz="5400" dirty="0"/>
          </a:p>
        </p:txBody>
      </p:sp>
      <p:sp>
        <p:nvSpPr>
          <p:cNvPr id="5" name="Text 3"/>
          <p:cNvSpPr txBox="1"/>
          <p:nvPr/>
        </p:nvSpPr>
        <p:spPr>
          <a:xfrm>
            <a:off x="566928" y="2542032"/>
            <a:ext cx="8595360" cy="457200"/>
          </a:xfrm>
          <a:prstGeom prst="rect">
            <a:avLst/>
          </a:prstGeom>
          <a:noFill/>
          <a:ln/>
        </p:spPr>
        <p:txBody>
          <a:bodyPr wrap="square" lIns="0" tIns="0" rIns="0" bIns="0" rtlCol="0" anchor="ctr"/>
          <a:lstStyle/>
          <a:p>
            <a:pPr indent="0" marL="0">
              <a:buNone/>
            </a:pPr>
            <a:r>
              <a:rPr lang="en-US" sz="1900" dirty="0">
                <a:solidFill>
                  <a:srgbClr val="00A896"/>
                </a:solidFill>
                <a:latin typeface="Calibri" pitchFamily="34" charset="0"/>
                <a:ea typeface="Calibri" pitchFamily="34" charset="-122"/>
                <a:cs typeface="Calibri" pitchFamily="34" charset="-120"/>
              </a:rPr>
              <a:t>Conversational search that resolves 60% of sessions on the first message</a:t>
            </a:r>
            <a:endParaRPr lang="en-US" sz="1900" dirty="0"/>
          </a:p>
        </p:txBody>
      </p:sp>
      <p:sp>
        <p:nvSpPr>
          <p:cNvPr id="6" name="Text 4"/>
          <p:cNvSpPr txBox="1"/>
          <p:nvPr/>
        </p:nvSpPr>
        <p:spPr>
          <a:xfrm>
            <a:off x="566928" y="3794760"/>
            <a:ext cx="2651760" cy="786384"/>
          </a:xfrm>
          <a:prstGeom prst="rect">
            <a:avLst/>
          </a:prstGeom>
          <a:noFill/>
          <a:ln/>
        </p:spPr>
        <p:txBody>
          <a:bodyPr wrap="square" lIns="0" tIns="0" rIns="0" bIns="0" rtlCol="0" anchor="ctr"/>
          <a:lstStyle/>
          <a:p>
            <a:pPr indent="0" marL="0">
              <a:buNone/>
            </a:pPr>
            <a:r>
              <a:rPr lang="en-US" sz="4600" b="1" dirty="0">
                <a:solidFill>
                  <a:srgbClr val="9FB4B8"/>
                </a:solidFill>
                <a:latin typeface="Cambria" pitchFamily="34" charset="0"/>
                <a:ea typeface="Cambria" pitchFamily="34" charset="-122"/>
                <a:cs typeface="Cambria" pitchFamily="34" charset="-120"/>
              </a:rPr>
              <a:t>0.107</a:t>
            </a:r>
            <a:endParaRPr lang="en-US" sz="4600" dirty="0"/>
          </a:p>
        </p:txBody>
      </p:sp>
      <p:sp>
        <p:nvSpPr>
          <p:cNvPr id="7" name="Text 5"/>
          <p:cNvSpPr txBox="1"/>
          <p:nvPr/>
        </p:nvSpPr>
        <p:spPr>
          <a:xfrm>
            <a:off x="56692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provided baseline</a:t>
            </a:r>
            <a:endParaRPr lang="en-US" sz="1300" dirty="0"/>
          </a:p>
        </p:txBody>
      </p:sp>
      <p:sp>
        <p:nvSpPr>
          <p:cNvPr id="8" name="Text 6"/>
          <p:cNvSpPr txBox="1"/>
          <p:nvPr/>
        </p:nvSpPr>
        <p:spPr>
          <a:xfrm>
            <a:off x="3447288" y="3794760"/>
            <a:ext cx="2651760" cy="786384"/>
          </a:xfrm>
          <a:prstGeom prst="rect">
            <a:avLst/>
          </a:prstGeom>
          <a:noFill/>
          <a:ln/>
        </p:spPr>
        <p:txBody>
          <a:bodyPr wrap="square" lIns="0" tIns="0" rIns="0" bIns="0" rtlCol="0" anchor="ctr"/>
          <a:lstStyle/>
          <a:p>
            <a:pPr indent="0" marL="0">
              <a:buNone/>
            </a:pPr>
            <a:r>
              <a:rPr lang="en-US" sz="4600" b="1" dirty="0">
                <a:solidFill>
                  <a:srgbClr val="02C39A"/>
                </a:solidFill>
                <a:latin typeface="Cambria" pitchFamily="34" charset="0"/>
                <a:ea typeface="Cambria" pitchFamily="34" charset="-122"/>
                <a:cs typeface="Cambria" pitchFamily="34" charset="-120"/>
              </a:rPr>
              <a:t>0.876</a:t>
            </a:r>
            <a:endParaRPr lang="en-US" sz="4600" dirty="0"/>
          </a:p>
        </p:txBody>
      </p:sp>
      <p:sp>
        <p:nvSpPr>
          <p:cNvPr id="9" name="Text 7"/>
          <p:cNvSpPr txBox="1"/>
          <p:nvPr/>
        </p:nvSpPr>
        <p:spPr>
          <a:xfrm>
            <a:off x="344728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our TechnicalScore</a:t>
            </a:r>
            <a:endParaRPr lang="en-US" sz="1300" dirty="0"/>
          </a:p>
        </p:txBody>
      </p:sp>
      <p:sp>
        <p:nvSpPr>
          <p:cNvPr id="10" name="Text 8"/>
          <p:cNvSpPr txBox="1"/>
          <p:nvPr/>
        </p:nvSpPr>
        <p:spPr>
          <a:xfrm>
            <a:off x="6327648" y="3794760"/>
            <a:ext cx="2651760" cy="786384"/>
          </a:xfrm>
          <a:prstGeom prst="rect">
            <a:avLst/>
          </a:prstGeom>
          <a:noFill/>
          <a:ln/>
        </p:spPr>
        <p:txBody>
          <a:bodyPr wrap="square" lIns="0" tIns="0" rIns="0" bIns="0" rtlCol="0" anchor="ctr"/>
          <a:lstStyle/>
          <a:p>
            <a:pPr indent="0" marL="0">
              <a:buNone/>
            </a:pPr>
            <a:r>
              <a:rPr lang="en-US" sz="4600" b="1" dirty="0">
                <a:solidFill>
                  <a:srgbClr val="9FB4B8"/>
                </a:solidFill>
                <a:latin typeface="Cambria" pitchFamily="34" charset="0"/>
                <a:ea typeface="Cambria" pitchFamily="34" charset="-122"/>
                <a:cs typeface="Cambria" pitchFamily="34" charset="-120"/>
              </a:rPr>
              <a:t>8.2x</a:t>
            </a:r>
            <a:endParaRPr lang="en-US" sz="4600" dirty="0"/>
          </a:p>
        </p:txBody>
      </p:sp>
      <p:sp>
        <p:nvSpPr>
          <p:cNvPr id="11" name="Text 9"/>
          <p:cNvSpPr txBox="1"/>
          <p:nvPr/>
        </p:nvSpPr>
        <p:spPr>
          <a:xfrm>
            <a:off x="632764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improvement</a:t>
            </a:r>
            <a:endParaRPr lang="en-US" sz="1300" dirty="0"/>
          </a:p>
        </p:txBody>
      </p:sp>
      <p:sp>
        <p:nvSpPr>
          <p:cNvPr id="12" name="Text 10"/>
          <p:cNvSpPr txBox="1"/>
          <p:nvPr/>
        </p:nvSpPr>
        <p:spPr>
          <a:xfrm>
            <a:off x="566928" y="5943600"/>
            <a:ext cx="1051560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TikTok TechJam 2026  ·  Track 4  ·  50,000-product Amazon catalogue  ·  no LLM, fully offline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The baseline was stuck in a loop</a:t>
            </a:r>
            <a:endParaRPr lang="en-US" sz="3400" dirty="0"/>
          </a:p>
        </p:txBody>
      </p:sp>
      <p:sp>
        <p:nvSpPr>
          <p:cNvPr id="4" name="Shape 2"/>
          <p:cNvSpPr/>
          <p:nvPr/>
        </p:nvSpPr>
        <p:spPr>
          <a:xfrm>
            <a:off x="566928" y="1627632"/>
            <a:ext cx="5577840" cy="2999232"/>
          </a:xfrm>
          <a:prstGeom prst="roundRect">
            <a:avLst>
              <a:gd name="adj" fmla="val 182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77824" y="1847088"/>
            <a:ext cx="493776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What the starter agent did</a:t>
            </a:r>
            <a:endParaRPr lang="en-US" sz="1500" dirty="0"/>
          </a:p>
        </p:txBody>
      </p:sp>
      <p:sp>
        <p:nvSpPr>
          <p:cNvPr id="6" name="Text 4"/>
          <p:cNvSpPr txBox="1"/>
          <p:nvPr/>
        </p:nvSpPr>
        <p:spPr>
          <a:xfrm>
            <a:off x="877824" y="2176272"/>
            <a:ext cx="4983480" cy="22860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Never set ask_attribute — so the simulated customer replied “Ask me about one specific attribute” every single turn</a:t>
            </a:r>
            <a:endParaRPr lang="en-US" sz="1450" dirty="0"/>
          </a:p>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Searched only the current message, discarding everything said earlier</a:t>
            </a:r>
            <a:endParaRPr lang="en-US" sz="1450" dirty="0"/>
          </a:p>
          <a:p>
            <a:pPr marL="342900" indent="-342900">
              <a:lnSpc>
                <a:spcPts val="1900"/>
              </a:lnSpc>
              <a:buSzPct val="100000"/>
              <a:buChar char="•"/>
            </a:pPr>
            <a:r>
              <a:rPr lang="en-US" sz="1450" dirty="0">
                <a:solidFill>
                  <a:srgbClr val="44585E"/>
                </a:solidFill>
                <a:latin typeface="Calibri" pitchFamily="34" charset="0"/>
                <a:ea typeface="Calibri" pitchFamily="34" charset="-122"/>
                <a:cs typeface="Calibri" pitchFamily="34" charset="-120"/>
              </a:rPr>
              <a:t>Result: it learned nothing, and needed 9.81 of its 10 turns</a:t>
            </a:r>
            <a:endParaRPr lang="en-US" sz="1450" dirty="0"/>
          </a:p>
        </p:txBody>
      </p:sp>
      <p:sp>
        <p:nvSpPr>
          <p:cNvPr id="7" name="Shape 5"/>
          <p:cNvSpPr/>
          <p:nvPr/>
        </p:nvSpPr>
        <p:spPr>
          <a:xfrm>
            <a:off x="6492240" y="1755648"/>
            <a:ext cx="5120640" cy="676656"/>
          </a:xfrm>
          <a:prstGeom prst="roundRect">
            <a:avLst>
              <a:gd name="adj" fmla="val 810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8" name="Text 6"/>
          <p:cNvSpPr txBox="1"/>
          <p:nvPr/>
        </p:nvSpPr>
        <p:spPr>
          <a:xfrm>
            <a:off x="6803136" y="1755648"/>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Hit Rate@10</a:t>
            </a:r>
            <a:endParaRPr lang="en-US" sz="1500" dirty="0"/>
          </a:p>
        </p:txBody>
      </p:sp>
      <p:sp>
        <p:nvSpPr>
          <p:cNvPr id="9" name="Text 7"/>
          <p:cNvSpPr txBox="1"/>
          <p:nvPr/>
        </p:nvSpPr>
        <p:spPr>
          <a:xfrm>
            <a:off x="9144000" y="1755648"/>
            <a:ext cx="2194560" cy="676656"/>
          </a:xfrm>
          <a:prstGeom prst="rect">
            <a:avLst/>
          </a:prstGeom>
          <a:noFill/>
          <a:ln/>
        </p:spPr>
        <p:txBody>
          <a:bodyPr wrap="square" lIns="0" tIns="0" rIns="0" bIns="0" rtlCol="0" anchor="ctr"/>
          <a:lstStyle/>
          <a:p>
            <a:pPr algn="r" indent="0" marL="0">
              <a:buNone/>
            </a:pPr>
            <a:r>
              <a:rPr lang="en-US" sz="2400" b="1" dirty="0">
                <a:solidFill>
                  <a:srgbClr val="0B2027"/>
                </a:solidFill>
                <a:latin typeface="Cambria" pitchFamily="34" charset="0"/>
                <a:ea typeface="Cambria" pitchFamily="34" charset="-122"/>
                <a:cs typeface="Cambria" pitchFamily="34" charset="-120"/>
              </a:rPr>
              <a:t>0.125</a:t>
            </a:r>
            <a:endParaRPr lang="en-US" sz="2400" dirty="0"/>
          </a:p>
        </p:txBody>
      </p:sp>
      <p:sp>
        <p:nvSpPr>
          <p:cNvPr id="10" name="Shape 8"/>
          <p:cNvSpPr/>
          <p:nvPr/>
        </p:nvSpPr>
        <p:spPr>
          <a:xfrm>
            <a:off x="6492240" y="2596896"/>
            <a:ext cx="5120640" cy="676656"/>
          </a:xfrm>
          <a:prstGeom prst="roundRect">
            <a:avLst>
              <a:gd name="adj" fmla="val 810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Text 9"/>
          <p:cNvSpPr txBox="1"/>
          <p:nvPr/>
        </p:nvSpPr>
        <p:spPr>
          <a:xfrm>
            <a:off x="6803136" y="2596896"/>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MRR</a:t>
            </a:r>
            <a:endParaRPr lang="en-US" sz="1500" dirty="0"/>
          </a:p>
        </p:txBody>
      </p:sp>
      <p:sp>
        <p:nvSpPr>
          <p:cNvPr id="12" name="Text 10"/>
          <p:cNvSpPr txBox="1"/>
          <p:nvPr/>
        </p:nvSpPr>
        <p:spPr>
          <a:xfrm>
            <a:off x="9144000" y="2596896"/>
            <a:ext cx="2194560" cy="676656"/>
          </a:xfrm>
          <a:prstGeom prst="rect">
            <a:avLst/>
          </a:prstGeom>
          <a:noFill/>
          <a:ln/>
        </p:spPr>
        <p:txBody>
          <a:bodyPr wrap="square" lIns="0" tIns="0" rIns="0" bIns="0" rtlCol="0" anchor="ctr"/>
          <a:lstStyle/>
          <a:p>
            <a:pPr algn="r" indent="0" marL="0">
              <a:buNone/>
            </a:pPr>
            <a:r>
              <a:rPr lang="en-US" sz="2400" b="1" dirty="0">
                <a:solidFill>
                  <a:srgbClr val="0B2027"/>
                </a:solidFill>
                <a:latin typeface="Cambria" pitchFamily="34" charset="0"/>
                <a:ea typeface="Cambria" pitchFamily="34" charset="-122"/>
                <a:cs typeface="Cambria" pitchFamily="34" charset="-120"/>
              </a:rPr>
              <a:t>0.068</a:t>
            </a:r>
            <a:endParaRPr lang="en-US" sz="2400" dirty="0"/>
          </a:p>
        </p:txBody>
      </p:sp>
      <p:sp>
        <p:nvSpPr>
          <p:cNvPr id="13" name="Shape 11"/>
          <p:cNvSpPr/>
          <p:nvPr/>
        </p:nvSpPr>
        <p:spPr>
          <a:xfrm>
            <a:off x="6492240" y="3438144"/>
            <a:ext cx="5120640" cy="676656"/>
          </a:xfrm>
          <a:prstGeom prst="roundRect">
            <a:avLst>
              <a:gd name="adj" fmla="val 8108"/>
            </a:avLst>
          </a:prstGeom>
          <a:solidFill>
            <a:srgbClr val="FBE9E7"/>
          </a:solidFill>
          <a:ln w="12700">
            <a:solidFill>
              <a:srgbClr val="FBE9E7"/>
            </a:solidFill>
            <a:prstDash val="solid"/>
          </a:ln>
          <a:effectLst>
            <a:outerShdw sx="100000" sy="100000" kx="0" ky="0" algn="bl" rotWithShape="0" blurRad="152400" dist="38100" dir="5400000">
              <a:srgbClr val="0B2027">
                <a:alpha val="16000"/>
              </a:srgbClr>
            </a:outerShdw>
          </a:effectLst>
        </p:spPr>
      </p:sp>
      <p:sp>
        <p:nvSpPr>
          <p:cNvPr id="14" name="Text 12"/>
          <p:cNvSpPr txBox="1"/>
          <p:nvPr/>
        </p:nvSpPr>
        <p:spPr>
          <a:xfrm>
            <a:off x="6803136" y="3438144"/>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MTTC (turns)</a:t>
            </a:r>
            <a:endParaRPr lang="en-US" sz="1500" dirty="0"/>
          </a:p>
        </p:txBody>
      </p:sp>
      <p:sp>
        <p:nvSpPr>
          <p:cNvPr id="15" name="Text 13"/>
          <p:cNvSpPr txBox="1"/>
          <p:nvPr/>
        </p:nvSpPr>
        <p:spPr>
          <a:xfrm>
            <a:off x="9144000" y="3438144"/>
            <a:ext cx="2194560" cy="676656"/>
          </a:xfrm>
          <a:prstGeom prst="rect">
            <a:avLst/>
          </a:prstGeom>
          <a:noFill/>
          <a:ln/>
        </p:spPr>
        <p:txBody>
          <a:bodyPr wrap="square" lIns="0" tIns="0" rIns="0" bIns="0" rtlCol="0" anchor="ctr"/>
          <a:lstStyle/>
          <a:p>
            <a:pPr algn="r" indent="0" marL="0">
              <a:buNone/>
            </a:pPr>
            <a:r>
              <a:rPr lang="en-US" sz="2400" b="1" dirty="0">
                <a:solidFill>
                  <a:srgbClr val="B3261E"/>
                </a:solidFill>
                <a:latin typeface="Cambria" pitchFamily="34" charset="0"/>
                <a:ea typeface="Cambria" pitchFamily="34" charset="-122"/>
                <a:cs typeface="Cambria" pitchFamily="34" charset="-120"/>
              </a:rPr>
              <a:t>9.81</a:t>
            </a:r>
            <a:endParaRPr lang="en-US" sz="2400" dirty="0"/>
          </a:p>
        </p:txBody>
      </p:sp>
      <p:sp>
        <p:nvSpPr>
          <p:cNvPr id="16" name="Text 14"/>
          <p:cNvSpPr txBox="1"/>
          <p:nvPr/>
        </p:nvSpPr>
        <p:spPr>
          <a:xfrm>
            <a:off x="6492240" y="4370832"/>
            <a:ext cx="5120640" cy="365760"/>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Nearly every session ran to the 10-turn cap before converting.</a:t>
            </a:r>
            <a:endParaRPr lang="en-US" sz="1300" dirty="0"/>
          </a:p>
        </p:txBody>
      </p:sp>
      <p:sp>
        <p:nvSpPr>
          <p:cNvPr id="17" name="Text 15"/>
          <p:cNvSpPr txBox="1"/>
          <p:nvPr/>
        </p:nvSpPr>
        <p:spPr>
          <a:xfrm>
            <a:off x="566928" y="5138928"/>
            <a:ext cx="11064240" cy="548640"/>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We started by reading the evaluator's own source — not to game it, but because the customer simulator defines what the agent can actually learn.</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THE CORE INSIGHT</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Extraction, not ranking, was the bottleneck</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indent="0" marL="0">
              <a:buNone/>
            </a:pPr>
            <a:r>
              <a:rPr lang="en-US" sz="1550" dirty="0">
                <a:solidFill>
                  <a:srgbClr val="44585E"/>
                </a:solidFill>
                <a:latin typeface="Calibri" pitchFamily="34" charset="0"/>
                <a:ea typeface="Calibri" pitchFamily="34" charset="-122"/>
                <a:cs typeface="Calibri" pitchFamily="34" charset="-120"/>
              </a:rPr>
              <a:t>We measured how much the catalogue could be reached, given different amounts of what the shopper had told us:</a:t>
            </a:r>
            <a:endParaRPr lang="en-US" sz="1550" dirty="0"/>
          </a:p>
        </p:txBody>
      </p:sp>
      <p:sp>
        <p:nvSpPr>
          <p:cNvPr id="5" name="Shape 3"/>
          <p:cNvSpPr/>
          <p:nvPr/>
        </p:nvSpPr>
        <p:spPr>
          <a:xfrm>
            <a:off x="566928" y="2103120"/>
            <a:ext cx="5349240" cy="2148840"/>
          </a:xfrm>
          <a:prstGeom prst="roundRect">
            <a:avLst>
              <a:gd name="adj" fmla="val 255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Text 4"/>
          <p:cNvSpPr txBox="1"/>
          <p:nvPr/>
        </p:nvSpPr>
        <p:spPr>
          <a:xfrm>
            <a:off x="877824" y="2304288"/>
            <a:ext cx="4663440" cy="914400"/>
          </a:xfrm>
          <a:prstGeom prst="rect">
            <a:avLst/>
          </a:prstGeom>
          <a:noFill/>
          <a:ln/>
        </p:spPr>
        <p:txBody>
          <a:bodyPr wrap="square" lIns="0" tIns="0" rIns="0" bIns="0" rtlCol="0" anchor="ctr"/>
          <a:lstStyle/>
          <a:p>
            <a:pPr indent="0" marL="0">
              <a:buNone/>
            </a:pPr>
            <a:r>
              <a:rPr lang="en-US" sz="6000" b="1" dirty="0">
                <a:solidFill>
                  <a:srgbClr val="44585E"/>
                </a:solidFill>
                <a:latin typeface="Cambria" pitchFamily="34" charset="0"/>
                <a:ea typeface="Cambria" pitchFamily="34" charset="-122"/>
                <a:cs typeface="Cambria" pitchFamily="34" charset="-120"/>
              </a:rPr>
              <a:t>1.7%</a:t>
            </a:r>
            <a:endParaRPr lang="en-US" sz="6000" dirty="0"/>
          </a:p>
        </p:txBody>
      </p:sp>
      <p:sp>
        <p:nvSpPr>
          <p:cNvPr id="7" name="Text 5"/>
          <p:cNvSpPr txBox="1"/>
          <p:nvPr/>
        </p:nvSpPr>
        <p:spPr>
          <a:xfrm>
            <a:off x="896112" y="3218688"/>
            <a:ext cx="4663440" cy="658368"/>
          </a:xfrm>
          <a:prstGeom prst="rect">
            <a:avLst/>
          </a:prstGeom>
          <a:noFill/>
          <a:ln/>
        </p:spPr>
        <p:txBody>
          <a:bodyPr wrap="square" lIns="0" tIns="0" rIns="0" bIns="0" rtlCol="0" anchor="ctr"/>
          <a:lstStyle/>
          <a:p>
            <a:pPr indent="0" marL="0">
              <a:buNone/>
            </a:pPr>
            <a:r>
              <a:rPr lang="en-US" sz="1450" dirty="0">
                <a:solidFill>
                  <a:srgbClr val="44585E"/>
                </a:solidFill>
                <a:latin typeface="Calibri" pitchFamily="34" charset="0"/>
                <a:ea typeface="Calibri" pitchFamily="34" charset="-122"/>
                <a:cs typeface="Calibri" pitchFamily="34" charset="-120"/>
              </a:rPr>
              <a:t>of targets in the top 10 using only the opening category</a:t>
            </a:r>
            <a:endParaRPr lang="en-US" sz="1450" dirty="0"/>
          </a:p>
        </p:txBody>
      </p:sp>
      <p:sp>
        <p:nvSpPr>
          <p:cNvPr id="8" name="Shape 6"/>
          <p:cNvSpPr/>
          <p:nvPr/>
        </p:nvSpPr>
        <p:spPr>
          <a:xfrm>
            <a:off x="6263640" y="2103120"/>
            <a:ext cx="5349240" cy="2148840"/>
          </a:xfrm>
          <a:prstGeom prst="roundRect">
            <a:avLst>
              <a:gd name="adj" fmla="val 2553"/>
            </a:avLst>
          </a:prstGeom>
          <a:solidFill>
            <a:srgbClr val="E3F6F1"/>
          </a:solidFill>
          <a:ln w="12700">
            <a:solidFill>
              <a:srgbClr val="E3F6F1"/>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6574536" y="2304288"/>
            <a:ext cx="4663440" cy="914400"/>
          </a:xfrm>
          <a:prstGeom prst="rect">
            <a:avLst/>
          </a:prstGeom>
          <a:noFill/>
          <a:ln/>
        </p:spPr>
        <p:txBody>
          <a:bodyPr wrap="square" lIns="0" tIns="0" rIns="0" bIns="0" rtlCol="0" anchor="ctr"/>
          <a:lstStyle/>
          <a:p>
            <a:pPr indent="0" marL="0">
              <a:buNone/>
            </a:pPr>
            <a:r>
              <a:rPr lang="en-US" sz="6000" b="1" dirty="0">
                <a:solidFill>
                  <a:srgbClr val="028090"/>
                </a:solidFill>
                <a:latin typeface="Cambria" pitchFamily="34" charset="0"/>
                <a:ea typeface="Cambria" pitchFamily="34" charset="-122"/>
                <a:cs typeface="Cambria" pitchFamily="34" charset="-120"/>
              </a:rPr>
              <a:t>85.0%</a:t>
            </a:r>
            <a:endParaRPr lang="en-US" sz="6000" dirty="0"/>
          </a:p>
        </p:txBody>
      </p:sp>
      <p:sp>
        <p:nvSpPr>
          <p:cNvPr id="10" name="Text 8"/>
          <p:cNvSpPr txBox="1"/>
          <p:nvPr/>
        </p:nvSpPr>
        <p:spPr>
          <a:xfrm>
            <a:off x="6592824" y="3218688"/>
            <a:ext cx="4663440" cy="658368"/>
          </a:xfrm>
          <a:prstGeom prst="rect">
            <a:avLst/>
          </a:prstGeom>
          <a:noFill/>
          <a:ln/>
        </p:spPr>
        <p:txBody>
          <a:bodyPr wrap="square" lIns="0" tIns="0" rIns="0" bIns="0" rtlCol="0" anchor="ctr"/>
          <a:lstStyle/>
          <a:p>
            <a:pPr indent="0" marL="0">
              <a:buNone/>
            </a:pPr>
            <a:r>
              <a:rPr lang="en-US" sz="1450" dirty="0">
                <a:solidFill>
                  <a:srgbClr val="44585E"/>
                </a:solidFill>
                <a:latin typeface="Calibri" pitchFamily="34" charset="0"/>
                <a:ea typeface="Calibri" pitchFamily="34" charset="-122"/>
                <a:cs typeface="Calibri" pitchFamily="34" charset="-120"/>
              </a:rPr>
              <a:t>using everything the shopper is willing to disclose</a:t>
            </a:r>
            <a:endParaRPr lang="en-US" sz="1450" dirty="0"/>
          </a:p>
        </p:txBody>
      </p:sp>
      <p:sp>
        <p:nvSpPr>
          <p:cNvPr id="11" name="Text 9"/>
          <p:cNvSpPr txBox="1"/>
          <p:nvPr/>
        </p:nvSpPr>
        <p:spPr>
          <a:xfrm>
            <a:off x="566928" y="4498848"/>
            <a:ext cx="11064240" cy="804672"/>
          </a:xfrm>
          <a:prstGeom prst="rect">
            <a:avLst/>
          </a:prstGeom>
          <a:noFill/>
          <a:ln/>
        </p:spPr>
        <p:txBody>
          <a:bodyPr wrap="square" lIns="0" tIns="0" rIns="0" bIns="0" rtlCol="0" anchor="ctr"/>
          <a:lstStyle/>
          <a:p>
            <a:pPr indent="0" marL="0">
              <a:lnSpc>
                <a:spcPts val="2600"/>
              </a:lnSpc>
              <a:buNone/>
            </a:pPr>
            <a:r>
              <a:rPr lang="en-US" sz="2000" b="1" dirty="0">
                <a:solidFill>
                  <a:srgbClr val="0B2027"/>
                </a:solidFill>
                <a:latin typeface="Cambria" pitchFamily="34" charset="0"/>
                <a:ea typeface="Cambria" pitchFamily="34" charset="-122"/>
                <a:cs typeface="Cambria" pitchFamily="34" charset="-120"/>
              </a:rPr>
              <a:t>The catalogue was always reachable. The hard part was getting the customer to talk — and never losing what they said.</a:t>
            </a:r>
            <a:endParaRPr lang="en-US" sz="2000" dirty="0"/>
          </a:p>
        </p:txBody>
      </p:sp>
      <p:sp>
        <p:nvSpPr>
          <p:cNvPr id="12" name="Text 10"/>
          <p:cNvSpPr txBox="1"/>
          <p:nvPr/>
        </p:nvSpPr>
        <p:spPr>
          <a:xfrm>
            <a:off x="566928" y="5394960"/>
            <a:ext cx="11064240" cy="548640"/>
          </a:xfrm>
          <a:prstGeom prst="rect">
            <a:avLst/>
          </a:prstGeom>
          <a:noFill/>
          <a:ln/>
        </p:spPr>
        <p:txBody>
          <a:bodyPr wrap="square" lIns="0" tIns="0" rIns="0" bIns="0" rtlCol="0" anchor="ctr"/>
          <a:lstStyle/>
          <a:p>
            <a:pPr indent="0" marL="0">
              <a:lnSpc>
                <a:spcPts val="1900"/>
              </a:lnSpc>
              <a:buNone/>
            </a:pPr>
            <a:r>
              <a:rPr lang="en-US" sz="1450" dirty="0">
                <a:solidFill>
                  <a:srgbClr val="44585E"/>
                </a:solidFill>
                <a:latin typeface="Calibri" pitchFamily="34" charset="0"/>
                <a:ea typeface="Calibri" pitchFamily="34" charset="-122"/>
                <a:cs typeface="Calibri" pitchFamily="34" charset="-120"/>
              </a:rPr>
              <a:t>This single measurement re-ordered our entire plan: dense retrieval and LLM reranking, both scoped as core, were demoted before a line of either was written.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One deterministic pass per turn</a:t>
            </a:r>
            <a:endParaRPr lang="en-US" sz="3400" dirty="0"/>
          </a:p>
        </p:txBody>
      </p:sp>
      <p:sp>
        <p:nvSpPr>
          <p:cNvPr id="4" name="Shape 2"/>
          <p:cNvSpPr/>
          <p:nvPr/>
        </p:nvSpPr>
        <p:spPr>
          <a:xfrm>
            <a:off x="566928"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Shape 3"/>
          <p:cNvSpPr/>
          <p:nvPr/>
        </p:nvSpPr>
        <p:spPr>
          <a:xfrm>
            <a:off x="822960" y="1938528"/>
            <a:ext cx="347472" cy="347472"/>
          </a:xfrm>
          <a:prstGeom prst="roundRect">
            <a:avLst>
              <a:gd name="adj" fmla="val 26316"/>
            </a:avLst>
          </a:prstGeom>
          <a:solidFill>
            <a:srgbClr val="00A896"/>
          </a:solidFill>
          <a:ln w="12700">
            <a:solidFill>
              <a:srgbClr val="00A896"/>
            </a:solidFill>
            <a:prstDash val="solid"/>
          </a:ln>
        </p:spPr>
      </p:sp>
      <p:sp>
        <p:nvSpPr>
          <p:cNvPr id="6" name="Text 4"/>
          <p:cNvSpPr txBox="1"/>
          <p:nvPr/>
        </p:nvSpPr>
        <p:spPr>
          <a:xfrm>
            <a:off x="822960"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822960"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state</a:t>
            </a:r>
            <a:endParaRPr lang="en-US" sz="1500" dirty="0"/>
          </a:p>
        </p:txBody>
      </p:sp>
      <p:sp>
        <p:nvSpPr>
          <p:cNvPr id="8" name="Text 6"/>
          <p:cNvSpPr txBox="1"/>
          <p:nvPr/>
        </p:nvSpPr>
        <p:spPr>
          <a:xfrm>
            <a:off x="822960"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Accumulate constraints.</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Retract on override.</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Settle boundaries.</a:t>
            </a:r>
            <a:endParaRPr lang="en-US" sz="1150" dirty="0"/>
          </a:p>
        </p:txBody>
      </p:sp>
      <p:sp>
        <p:nvSpPr>
          <p:cNvPr id="9" name="Text 7"/>
          <p:cNvSpPr txBox="1"/>
          <p:nvPr/>
        </p:nvSpPr>
        <p:spPr>
          <a:xfrm>
            <a:off x="2578608"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2834640"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Shape 9"/>
          <p:cNvSpPr/>
          <p:nvPr/>
        </p:nvSpPr>
        <p:spPr>
          <a:xfrm>
            <a:off x="3090672" y="1938528"/>
            <a:ext cx="347472" cy="347472"/>
          </a:xfrm>
          <a:prstGeom prst="roundRect">
            <a:avLst>
              <a:gd name="adj" fmla="val 26316"/>
            </a:avLst>
          </a:prstGeom>
          <a:solidFill>
            <a:srgbClr val="00A896"/>
          </a:solidFill>
          <a:ln w="12700">
            <a:solidFill>
              <a:srgbClr val="00A896"/>
            </a:solidFill>
            <a:prstDash val="solid"/>
          </a:ln>
        </p:spPr>
      </p:sp>
      <p:sp>
        <p:nvSpPr>
          <p:cNvPr id="12" name="Text 10"/>
          <p:cNvSpPr txBox="1"/>
          <p:nvPr/>
        </p:nvSpPr>
        <p:spPr>
          <a:xfrm>
            <a:off x="3090672"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090672"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intent</a:t>
            </a:r>
            <a:endParaRPr lang="en-US" sz="1500" dirty="0"/>
          </a:p>
        </p:txBody>
      </p:sp>
      <p:sp>
        <p:nvSpPr>
          <p:cNvPr id="14" name="Text 12"/>
          <p:cNvSpPr txBox="1"/>
          <p:nvPr/>
        </p:nvSpPr>
        <p:spPr>
          <a:xfrm>
            <a:off x="3090672"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Buying vs Browsing.</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Rules, no model call.</a:t>
            </a:r>
            <a:endParaRPr lang="en-US" sz="1150" dirty="0"/>
          </a:p>
        </p:txBody>
      </p:sp>
      <p:sp>
        <p:nvSpPr>
          <p:cNvPr id="15" name="Text 13"/>
          <p:cNvSpPr txBox="1"/>
          <p:nvPr/>
        </p:nvSpPr>
        <p:spPr>
          <a:xfrm>
            <a:off x="4846320"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5102352"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7" name="Shape 15"/>
          <p:cNvSpPr/>
          <p:nvPr/>
        </p:nvSpPr>
        <p:spPr>
          <a:xfrm>
            <a:off x="5358384" y="1938528"/>
            <a:ext cx="347472" cy="347472"/>
          </a:xfrm>
          <a:prstGeom prst="roundRect">
            <a:avLst>
              <a:gd name="adj" fmla="val 26316"/>
            </a:avLst>
          </a:prstGeom>
          <a:solidFill>
            <a:srgbClr val="02C39A"/>
          </a:solidFill>
          <a:ln w="12700">
            <a:solidFill>
              <a:srgbClr val="02C39A"/>
            </a:solidFill>
            <a:prstDash val="solid"/>
          </a:ln>
        </p:spPr>
      </p:sp>
      <p:sp>
        <p:nvSpPr>
          <p:cNvPr id="18" name="Text 16"/>
          <p:cNvSpPr txBox="1"/>
          <p:nvPr/>
        </p:nvSpPr>
        <p:spPr>
          <a:xfrm>
            <a:off x="5358384"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5358384"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retrieval</a:t>
            </a:r>
            <a:endParaRPr lang="en-US" sz="1500" dirty="0"/>
          </a:p>
        </p:txBody>
      </p:sp>
      <p:sp>
        <p:nvSpPr>
          <p:cNvPr id="20" name="Text 18"/>
          <p:cNvSpPr txBox="1"/>
          <p:nvPr/>
        </p:nvSpPr>
        <p:spPr>
          <a:xfrm>
            <a:off x="5358384"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Wide keyword pool,</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rescored on constraint</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coverage.</a:t>
            </a:r>
            <a:endParaRPr lang="en-US" sz="1150" dirty="0"/>
          </a:p>
        </p:txBody>
      </p:sp>
      <p:sp>
        <p:nvSpPr>
          <p:cNvPr id="21" name="Text 19"/>
          <p:cNvSpPr txBox="1"/>
          <p:nvPr/>
        </p:nvSpPr>
        <p:spPr>
          <a:xfrm>
            <a:off x="7114032"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7370064"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3" name="Shape 21"/>
          <p:cNvSpPr/>
          <p:nvPr/>
        </p:nvSpPr>
        <p:spPr>
          <a:xfrm>
            <a:off x="7626096" y="1938528"/>
            <a:ext cx="347472" cy="347472"/>
          </a:xfrm>
          <a:prstGeom prst="roundRect">
            <a:avLst>
              <a:gd name="adj" fmla="val 26316"/>
            </a:avLst>
          </a:prstGeom>
          <a:solidFill>
            <a:srgbClr val="00A896"/>
          </a:solidFill>
          <a:ln w="12700">
            <a:solidFill>
              <a:srgbClr val="00A896"/>
            </a:solidFill>
            <a:prstDash val="solid"/>
          </a:ln>
        </p:spPr>
      </p:sp>
      <p:sp>
        <p:nvSpPr>
          <p:cNvPr id="24" name="Text 22"/>
          <p:cNvSpPr txBox="1"/>
          <p:nvPr/>
        </p:nvSpPr>
        <p:spPr>
          <a:xfrm>
            <a:off x="7626096"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5" name="Text 23"/>
          <p:cNvSpPr txBox="1"/>
          <p:nvPr/>
        </p:nvSpPr>
        <p:spPr>
          <a:xfrm>
            <a:off x="7626096"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profile</a:t>
            </a:r>
            <a:endParaRPr lang="en-US" sz="1500" dirty="0"/>
          </a:p>
        </p:txBody>
      </p:sp>
      <p:sp>
        <p:nvSpPr>
          <p:cNvPr id="26" name="Text 24"/>
          <p:cNvSpPr txBox="1"/>
          <p:nvPr/>
        </p:nvSpPr>
        <p:spPr>
          <a:xfrm>
            <a:off x="7626096"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Long-term prior,</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used to break ties</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only.</a:t>
            </a:r>
            <a:endParaRPr lang="en-US" sz="1150" dirty="0"/>
          </a:p>
        </p:txBody>
      </p:sp>
      <p:sp>
        <p:nvSpPr>
          <p:cNvPr id="27" name="Text 25"/>
          <p:cNvSpPr txBox="1"/>
          <p:nvPr/>
        </p:nvSpPr>
        <p:spPr>
          <a:xfrm>
            <a:off x="9381744"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9637776"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9" name="Shape 27"/>
          <p:cNvSpPr/>
          <p:nvPr/>
        </p:nvSpPr>
        <p:spPr>
          <a:xfrm>
            <a:off x="9893808" y="1938528"/>
            <a:ext cx="347472" cy="347472"/>
          </a:xfrm>
          <a:prstGeom prst="roundRect">
            <a:avLst>
              <a:gd name="adj" fmla="val 26316"/>
            </a:avLst>
          </a:prstGeom>
          <a:solidFill>
            <a:srgbClr val="00A896"/>
          </a:solidFill>
          <a:ln w="12700">
            <a:solidFill>
              <a:srgbClr val="00A896"/>
            </a:solidFill>
            <a:prstDash val="solid"/>
          </a:ln>
        </p:spPr>
      </p:sp>
      <p:sp>
        <p:nvSpPr>
          <p:cNvPr id="30" name="Text 28"/>
          <p:cNvSpPr txBox="1"/>
          <p:nvPr/>
        </p:nvSpPr>
        <p:spPr>
          <a:xfrm>
            <a:off x="9893808"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31" name="Text 29"/>
          <p:cNvSpPr txBox="1"/>
          <p:nvPr/>
        </p:nvSpPr>
        <p:spPr>
          <a:xfrm>
            <a:off x="9893808"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ask</a:t>
            </a:r>
            <a:endParaRPr lang="en-US" sz="1500" dirty="0"/>
          </a:p>
        </p:txBody>
      </p:sp>
      <p:sp>
        <p:nvSpPr>
          <p:cNvPr id="32" name="Text 30"/>
          <p:cNvSpPr txBox="1"/>
          <p:nvPr/>
        </p:nvSpPr>
        <p:spPr>
          <a:xfrm>
            <a:off x="9893808"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Highest-yield</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unanswered attribute.</a:t>
            </a:r>
            <a:endParaRPr lang="en-US" sz="1150" dirty="0"/>
          </a:p>
        </p:txBody>
      </p:sp>
      <p:sp>
        <p:nvSpPr>
          <p:cNvPr id="33" name="Shape 31"/>
          <p:cNvSpPr/>
          <p:nvPr/>
        </p:nvSpPr>
        <p:spPr>
          <a:xfrm>
            <a:off x="566928" y="4315968"/>
            <a:ext cx="11055096" cy="932688"/>
          </a:xfrm>
          <a:prstGeom prst="roundRect">
            <a:avLst>
              <a:gd name="adj" fmla="val 5882"/>
            </a:avLst>
          </a:prstGeom>
          <a:solidFill>
            <a:srgbClr val="0B2027"/>
          </a:solidFill>
          <a:ln w="12700">
            <a:solidFill>
              <a:srgbClr val="0B2027"/>
            </a:solidFill>
            <a:prstDash val="solid"/>
          </a:ln>
          <a:effectLst>
            <a:outerShdw sx="100000" sy="100000" kx="0" ky="0" algn="bl" rotWithShape="0" blurRad="152400" dist="38100" dir="5400000">
              <a:srgbClr val="0B2027">
                <a:alpha val="16000"/>
              </a:srgbClr>
            </a:outerShdw>
          </a:effectLst>
        </p:spPr>
      </p:sp>
      <p:sp>
        <p:nvSpPr>
          <p:cNvPr id="34" name="Text 32"/>
          <p:cNvSpPr txBox="1"/>
          <p:nvPr/>
        </p:nvSpPr>
        <p:spPr>
          <a:xfrm>
            <a:off x="896112" y="4443984"/>
            <a:ext cx="1042416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Every turn returns recommendations AND a question — never one without the other.</a:t>
            </a:r>
            <a:endParaRPr lang="en-US" sz="1600" dirty="0"/>
          </a:p>
        </p:txBody>
      </p:sp>
      <p:sp>
        <p:nvSpPr>
          <p:cNvPr id="35" name="Text 33"/>
          <p:cNvSpPr txBox="1"/>
          <p:nvPr/>
        </p:nvSpPr>
        <p:spPr>
          <a:xfrm>
            <a:off x="896112" y="4754880"/>
            <a:ext cx="10424160" cy="384048"/>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The evaluator scores recommendations before it reads ask_attribute, so a question is free when the recommendation already hits. The real design problem is knowing when to stop asking.</a:t>
            </a:r>
            <a:endParaRPr lang="en-US" sz="1300" dirty="0"/>
          </a:p>
        </p:txBody>
      </p:sp>
      <p:sp>
        <p:nvSpPr>
          <p:cNvPr id="36" name="Text 34"/>
          <p:cNvSpPr txBox="1"/>
          <p:nvPr/>
        </p:nvSpPr>
        <p:spPr>
          <a:xfrm>
            <a:off x="566928" y="5486400"/>
            <a:ext cx="11064240" cy="365760"/>
          </a:xfrm>
          <a:prstGeom prst="rect">
            <a:avLst/>
          </a:prstGeom>
          <a:noFill/>
          <a:ln/>
        </p:spPr>
        <p:txBody>
          <a:bodyPr wrap="square" lIns="0" tIns="0" rIns="0" bIns="0" rtlCol="0" anchor="ctr"/>
          <a:lstStyle/>
          <a:p>
            <a:pPr indent="0" marL="0">
              <a:buNone/>
            </a:pPr>
            <a:r>
              <a:rPr lang="en-US" sz="1350" i="1" dirty="0">
                <a:solidFill>
                  <a:srgbClr val="44585E"/>
                </a:solidFill>
                <a:latin typeface="Calibri" pitchFamily="34" charset="0"/>
                <a:ea typeface="Calibri" pitchFamily="34" charset="-122"/>
                <a:cs typeface="Calibri" pitchFamily="34" charset="-120"/>
              </a:rPr>
              <a:t>Runs in ~90 ms per session on a laptop. No network, no model, no third-party runtime dependency.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OUR WORKFLOW</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How we worked: measure, then build</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indent="0" marL="0">
              <a:buNone/>
            </a:pPr>
            <a:r>
              <a:rPr lang="en-US" sz="1550" dirty="0">
                <a:solidFill>
                  <a:srgbClr val="44585E"/>
                </a:solidFill>
                <a:latin typeface="Calibri" pitchFamily="34" charset="0"/>
                <a:ea typeface="Calibri" pitchFamily="34" charset="-122"/>
                <a:cs typeface="Calibri" pitchFamily="34" charset="-120"/>
              </a:rPr>
              <a:t>Every change was justified by a measurement taken before it, and verified by one taken after. Nothing shipped on intuition.</a:t>
            </a:r>
            <a:endParaRPr lang="en-US" sz="1550" dirty="0"/>
          </a:p>
        </p:txBody>
      </p:sp>
      <p:sp>
        <p:nvSpPr>
          <p:cNvPr id="5" name="Shape 3"/>
          <p:cNvSpPr/>
          <p:nvPr/>
        </p:nvSpPr>
        <p:spPr>
          <a:xfrm>
            <a:off x="566928" y="2048256"/>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Shape 4"/>
          <p:cNvSpPr/>
          <p:nvPr/>
        </p:nvSpPr>
        <p:spPr>
          <a:xfrm>
            <a:off x="786384" y="2185416"/>
            <a:ext cx="365760" cy="365760"/>
          </a:xfrm>
          <a:prstGeom prst="roundRect">
            <a:avLst>
              <a:gd name="adj" fmla="val 25000"/>
            </a:avLst>
          </a:prstGeom>
          <a:solidFill>
            <a:srgbClr val="00A896"/>
          </a:solidFill>
          <a:ln w="12700">
            <a:solidFill>
              <a:srgbClr val="00A896"/>
            </a:solidFill>
            <a:prstDash val="solid"/>
          </a:ln>
        </p:spPr>
      </p:sp>
      <p:sp>
        <p:nvSpPr>
          <p:cNvPr id="7" name="Text 5"/>
          <p:cNvSpPr txBox="1"/>
          <p:nvPr/>
        </p:nvSpPr>
        <p:spPr>
          <a:xfrm>
            <a:off x="786384" y="2185416"/>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316736" y="2048256"/>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Instrument</a:t>
            </a:r>
            <a:endParaRPr lang="en-US" sz="1550" dirty="0"/>
          </a:p>
        </p:txBody>
      </p:sp>
      <p:sp>
        <p:nvSpPr>
          <p:cNvPr id="9" name="Text 7"/>
          <p:cNvSpPr txBox="1"/>
          <p:nvPr/>
        </p:nvSpPr>
        <p:spPr>
          <a:xfrm>
            <a:off x="3182112" y="2048256"/>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Reproduce the baseline exactly, then read the evaluator to learn what the agent can actually observe.</a:t>
            </a:r>
            <a:endParaRPr lang="en-US" sz="1350" dirty="0"/>
          </a:p>
        </p:txBody>
      </p:sp>
      <p:sp>
        <p:nvSpPr>
          <p:cNvPr id="10" name="Shape 8"/>
          <p:cNvSpPr/>
          <p:nvPr/>
        </p:nvSpPr>
        <p:spPr>
          <a:xfrm>
            <a:off x="566928" y="2834640"/>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Shape 9"/>
          <p:cNvSpPr/>
          <p:nvPr/>
        </p:nvSpPr>
        <p:spPr>
          <a:xfrm>
            <a:off x="786384" y="2971800"/>
            <a:ext cx="365760" cy="365760"/>
          </a:xfrm>
          <a:prstGeom prst="roundRect">
            <a:avLst>
              <a:gd name="adj" fmla="val 25000"/>
            </a:avLst>
          </a:prstGeom>
          <a:solidFill>
            <a:srgbClr val="00A896"/>
          </a:solidFill>
          <a:ln w="12700">
            <a:solidFill>
              <a:srgbClr val="00A896"/>
            </a:solidFill>
            <a:prstDash val="solid"/>
          </a:ln>
        </p:spPr>
      </p:sp>
      <p:sp>
        <p:nvSpPr>
          <p:cNvPr id="12" name="Text 10"/>
          <p:cNvSpPr txBox="1"/>
          <p:nvPr/>
        </p:nvSpPr>
        <p:spPr>
          <a:xfrm>
            <a:off x="786384" y="2971800"/>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1316736" y="2834640"/>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Diagnose</a:t>
            </a:r>
            <a:endParaRPr lang="en-US" sz="1550" dirty="0"/>
          </a:p>
        </p:txBody>
      </p:sp>
      <p:sp>
        <p:nvSpPr>
          <p:cNvPr id="14" name="Text 12"/>
          <p:cNvSpPr txBox="1"/>
          <p:nvPr/>
        </p:nvSpPr>
        <p:spPr>
          <a:xfrm>
            <a:off x="3182112" y="2834640"/>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Ask where the loss is. Is a failure a retrieval miss or a ranking miss? The answer changes what to build.</a:t>
            </a:r>
            <a:endParaRPr lang="en-US" sz="1350" dirty="0"/>
          </a:p>
        </p:txBody>
      </p:sp>
      <p:sp>
        <p:nvSpPr>
          <p:cNvPr id="15" name="Shape 13"/>
          <p:cNvSpPr/>
          <p:nvPr/>
        </p:nvSpPr>
        <p:spPr>
          <a:xfrm>
            <a:off x="566928" y="3621024"/>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6" name="Shape 14"/>
          <p:cNvSpPr/>
          <p:nvPr/>
        </p:nvSpPr>
        <p:spPr>
          <a:xfrm>
            <a:off x="786384" y="3758184"/>
            <a:ext cx="365760" cy="365760"/>
          </a:xfrm>
          <a:prstGeom prst="roundRect">
            <a:avLst>
              <a:gd name="adj" fmla="val 25000"/>
            </a:avLst>
          </a:prstGeom>
          <a:solidFill>
            <a:srgbClr val="00A896"/>
          </a:solidFill>
          <a:ln w="12700">
            <a:solidFill>
              <a:srgbClr val="00A896"/>
            </a:solidFill>
            <a:prstDash val="solid"/>
          </a:ln>
        </p:spPr>
      </p:sp>
      <p:sp>
        <p:nvSpPr>
          <p:cNvPr id="17" name="Text 15"/>
          <p:cNvSpPr txBox="1"/>
          <p:nvPr/>
        </p:nvSpPr>
        <p:spPr>
          <a:xfrm>
            <a:off x="786384" y="3758184"/>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316736" y="3621024"/>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Isolate</a:t>
            </a:r>
            <a:endParaRPr lang="en-US" sz="1550" dirty="0"/>
          </a:p>
        </p:txBody>
      </p:sp>
      <p:sp>
        <p:nvSpPr>
          <p:cNvPr id="19" name="Text 17"/>
          <p:cNvSpPr txBox="1"/>
          <p:nvPr/>
        </p:nvSpPr>
        <p:spPr>
          <a:xfrm>
            <a:off x="3182112" y="3621024"/>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One change at a time, re-scored on all 200 sessions, so every number in our docs is attributable.</a:t>
            </a:r>
            <a:endParaRPr lang="en-US" sz="1350" dirty="0"/>
          </a:p>
        </p:txBody>
      </p:sp>
      <p:sp>
        <p:nvSpPr>
          <p:cNvPr id="20" name="Shape 18"/>
          <p:cNvSpPr/>
          <p:nvPr/>
        </p:nvSpPr>
        <p:spPr>
          <a:xfrm>
            <a:off x="566928" y="4407408"/>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1" name="Shape 19"/>
          <p:cNvSpPr/>
          <p:nvPr/>
        </p:nvSpPr>
        <p:spPr>
          <a:xfrm>
            <a:off x="786384" y="4544568"/>
            <a:ext cx="365760" cy="365760"/>
          </a:xfrm>
          <a:prstGeom prst="roundRect">
            <a:avLst>
              <a:gd name="adj" fmla="val 25000"/>
            </a:avLst>
          </a:prstGeom>
          <a:solidFill>
            <a:srgbClr val="00A896"/>
          </a:solidFill>
          <a:ln w="12700">
            <a:solidFill>
              <a:srgbClr val="00A896"/>
            </a:solidFill>
            <a:prstDash val="solid"/>
          </a:ln>
        </p:spPr>
      </p:sp>
      <p:sp>
        <p:nvSpPr>
          <p:cNvPr id="22" name="Text 20"/>
          <p:cNvSpPr txBox="1"/>
          <p:nvPr/>
        </p:nvSpPr>
        <p:spPr>
          <a:xfrm>
            <a:off x="786384" y="4544568"/>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1316736" y="4407408"/>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Sweep</a:t>
            </a:r>
            <a:endParaRPr lang="en-US" sz="1550" dirty="0"/>
          </a:p>
        </p:txBody>
      </p:sp>
      <p:sp>
        <p:nvSpPr>
          <p:cNvPr id="24" name="Text 22"/>
          <p:cNvSpPr txBox="1"/>
          <p:nvPr/>
        </p:nvSpPr>
        <p:spPr>
          <a:xfrm>
            <a:off x="3182112" y="4407408"/>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Tune each weight across a range. Prefer broad plateaus over sharp peaks — flat optima survive a distribution shift.</a:t>
            </a:r>
            <a:endParaRPr lang="en-US" sz="1350" dirty="0"/>
          </a:p>
        </p:txBody>
      </p:sp>
      <p:sp>
        <p:nvSpPr>
          <p:cNvPr id="25" name="Shape 23"/>
          <p:cNvSpPr/>
          <p:nvPr/>
        </p:nvSpPr>
        <p:spPr>
          <a:xfrm>
            <a:off x="566928" y="5193792"/>
            <a:ext cx="11055096" cy="640080"/>
          </a:xfrm>
          <a:prstGeom prst="roundRect">
            <a:avLst>
              <a:gd name="adj" fmla="val 8571"/>
            </a:avLst>
          </a:prstGeom>
          <a:solidFill>
            <a:srgbClr val="FFF4E0"/>
          </a:solidFill>
          <a:ln w="12700">
            <a:solidFill>
              <a:srgbClr val="FFF4E0"/>
            </a:solidFill>
            <a:prstDash val="solid"/>
          </a:ln>
          <a:effectLst>
            <a:outerShdw sx="100000" sy="100000" kx="0" ky="0" algn="bl" rotWithShape="0" blurRad="152400" dist="38100" dir="5400000">
              <a:srgbClr val="0B2027">
                <a:alpha val="16000"/>
              </a:srgbClr>
            </a:outerShdw>
          </a:effectLst>
        </p:spPr>
      </p:sp>
      <p:sp>
        <p:nvSpPr>
          <p:cNvPr id="26" name="Shape 24"/>
          <p:cNvSpPr/>
          <p:nvPr/>
        </p:nvSpPr>
        <p:spPr>
          <a:xfrm>
            <a:off x="786384" y="5330952"/>
            <a:ext cx="365760" cy="365760"/>
          </a:xfrm>
          <a:prstGeom prst="roundRect">
            <a:avLst>
              <a:gd name="adj" fmla="val 25000"/>
            </a:avLst>
          </a:prstGeom>
          <a:solidFill>
            <a:srgbClr val="F5A623"/>
          </a:solidFill>
          <a:ln w="12700">
            <a:solidFill>
              <a:srgbClr val="F5A623"/>
            </a:solidFill>
            <a:prstDash val="solid"/>
          </a:ln>
        </p:spPr>
      </p:sp>
      <p:sp>
        <p:nvSpPr>
          <p:cNvPr id="27" name="Text 25"/>
          <p:cNvSpPr txBox="1"/>
          <p:nvPr/>
        </p:nvSpPr>
        <p:spPr>
          <a:xfrm>
            <a:off x="786384" y="5330952"/>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28" name="Text 26"/>
          <p:cNvSpPr txBox="1"/>
          <p:nvPr/>
        </p:nvSpPr>
        <p:spPr>
          <a:xfrm>
            <a:off x="1316736" y="5193792"/>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Reject</a:t>
            </a:r>
            <a:endParaRPr lang="en-US" sz="1550" dirty="0"/>
          </a:p>
        </p:txBody>
      </p:sp>
      <p:sp>
        <p:nvSpPr>
          <p:cNvPr id="29" name="Text 27"/>
          <p:cNvSpPr txBox="1"/>
          <p:nvPr/>
        </p:nvSpPr>
        <p:spPr>
          <a:xfrm>
            <a:off x="3182112" y="5193792"/>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Kill ideas on evidence, including our own. Three planned components were cut after measurement.</a:t>
            </a:r>
            <a:endParaRPr lang="en-US" sz="1350" dirty="0"/>
          </a:p>
        </p:txBody>
      </p:sp>
      <p:sp>
        <p:nvSpPr>
          <p:cNvPr id="30" name="Text 28"/>
          <p:cNvSpPr txBox="1"/>
          <p:nvPr/>
        </p:nvSpPr>
        <p:spPr>
          <a:xfrm>
            <a:off x="566928" y="5943600"/>
            <a:ext cx="11064240" cy="384048"/>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Two bugs that passed every unit test were caught only by tracing a real session end to end. We now trace before we trust a metric.</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RESULTS BY STAGE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Every gain is attributable to one change</a:t>
            </a:r>
            <a:endParaRPr lang="en-US" sz="3400" dirty="0"/>
          </a:p>
        </p:txBody>
      </p:sp>
      <p:graphicFrame>
        <p:nvGraphicFramePr>
          <p:cNvPr id="4" name="Chart 0" descr=""/>
          <p:cNvGraphicFramePr/>
          <p:nvPr/>
        </p:nvGraphicFramePr>
        <p:xfrm>
          <a:off x="566928" y="1572768"/>
          <a:ext cx="7452360" cy="42245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00784"/>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Text 3"/>
          <p:cNvSpPr txBox="1"/>
          <p:nvPr/>
        </p:nvSpPr>
        <p:spPr>
          <a:xfrm>
            <a:off x="8522208" y="1792224"/>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+0.455</a:t>
            </a:r>
            <a:endParaRPr lang="en-US" sz="2000" dirty="0"/>
          </a:p>
        </p:txBody>
      </p:sp>
      <p:sp>
        <p:nvSpPr>
          <p:cNvPr id="7" name="Text 4"/>
          <p:cNvSpPr txBox="1"/>
          <p:nvPr/>
        </p:nvSpPr>
        <p:spPr>
          <a:xfrm>
            <a:off x="8522208" y="2157984"/>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Working agent</a:t>
            </a:r>
            <a:endParaRPr lang="en-US" sz="1300" dirty="0"/>
          </a:p>
        </p:txBody>
      </p:sp>
      <p:sp>
        <p:nvSpPr>
          <p:cNvPr id="8" name="Text 5"/>
          <p:cNvSpPr txBox="1"/>
          <p:nvPr/>
        </p:nvSpPr>
        <p:spPr>
          <a:xfrm>
            <a:off x="8522208" y="2395728"/>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State machine, intent routing and attribute-match retrieval.</a:t>
            </a:r>
            <a:endParaRPr lang="en-US" sz="1100" dirty="0"/>
          </a:p>
        </p:txBody>
      </p:sp>
      <p:sp>
        <p:nvSpPr>
          <p:cNvPr id="9" name="Shape 6"/>
          <p:cNvSpPr/>
          <p:nvPr/>
        </p:nvSpPr>
        <p:spPr>
          <a:xfrm>
            <a:off x="8275320" y="3090672"/>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0" name="Text 7"/>
          <p:cNvSpPr txBox="1"/>
          <p:nvPr/>
        </p:nvSpPr>
        <p:spPr>
          <a:xfrm>
            <a:off x="8522208" y="3182112"/>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+0.166</a:t>
            </a:r>
            <a:endParaRPr lang="en-US" sz="2000" dirty="0"/>
          </a:p>
        </p:txBody>
      </p:sp>
      <p:sp>
        <p:nvSpPr>
          <p:cNvPr id="11" name="Text 8"/>
          <p:cNvSpPr txBox="1"/>
          <p:nvPr/>
        </p:nvSpPr>
        <p:spPr>
          <a:xfrm>
            <a:off x="8522208" y="3547872"/>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Bucket fix</a:t>
            </a:r>
            <a:endParaRPr lang="en-US" sz="1300" dirty="0"/>
          </a:p>
        </p:txBody>
      </p:sp>
      <p:sp>
        <p:nvSpPr>
          <p:cNvPr id="12" name="Text 9"/>
          <p:cNvSpPr txBox="1"/>
          <p:nvPr/>
        </p:nvSpPr>
        <p:spPr>
          <a:xfrm>
            <a:off x="8522208" y="3785616"/>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One answer does not empty an attribute — keep asking until refused.</a:t>
            </a:r>
            <a:endParaRPr lang="en-US" sz="1100" dirty="0"/>
          </a:p>
        </p:txBody>
      </p:sp>
      <p:sp>
        <p:nvSpPr>
          <p:cNvPr id="13" name="Shape 10"/>
          <p:cNvSpPr/>
          <p:nvPr/>
        </p:nvSpPr>
        <p:spPr>
          <a:xfrm>
            <a:off x="8275320" y="4480560"/>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4" name="Text 11"/>
          <p:cNvSpPr txBox="1"/>
          <p:nvPr/>
        </p:nvSpPr>
        <p:spPr>
          <a:xfrm>
            <a:off x="8522208" y="4572000"/>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+0.132</a:t>
            </a:r>
            <a:endParaRPr lang="en-US" sz="2000" dirty="0"/>
          </a:p>
        </p:txBody>
      </p:sp>
      <p:sp>
        <p:nvSpPr>
          <p:cNvPr id="15" name="Text 12"/>
          <p:cNvSpPr txBox="1"/>
          <p:nvPr/>
        </p:nvSpPr>
        <p:spPr>
          <a:xfrm>
            <a:off x="8522208" y="4937760"/>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Ranking features</a:t>
            </a:r>
            <a:endParaRPr lang="en-US" sz="1300" dirty="0"/>
          </a:p>
        </p:txBody>
      </p:sp>
      <p:sp>
        <p:nvSpPr>
          <p:cNvPr id="16" name="Text 13"/>
          <p:cNvSpPr txBox="1"/>
          <p:nvPr/>
        </p:nvSpPr>
        <p:spPr>
          <a:xfrm>
            <a:off x="8522208" y="5175504"/>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Constraint coverage, popularity prior, category-path match.</a:t>
            </a:r>
            <a:endParaRPr lang="en-US" sz="1100" dirty="0"/>
          </a:p>
        </p:txBody>
      </p:sp>
      <p:sp>
        <p:nvSpPr>
          <p:cNvPr id="17" name="Text 14"/>
          <p:cNvSpPr txBox="1"/>
          <p:nvPr/>
        </p:nvSpPr>
        <p:spPr>
          <a:xfrm>
            <a:off x="566928" y="5943600"/>
            <a:ext cx="11064240" cy="329184"/>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Scored on all 200 public sessions after every single change.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TECHNICAL CONSIDERATIONS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Four decisions that carried the score</a:t>
            </a:r>
            <a:endParaRPr lang="en-US" sz="3400" dirty="0"/>
          </a:p>
        </p:txBody>
      </p:sp>
      <p:sp>
        <p:nvSpPr>
          <p:cNvPr id="4" name="Shape 2"/>
          <p:cNvSpPr/>
          <p:nvPr/>
        </p:nvSpPr>
        <p:spPr>
          <a:xfrm>
            <a:off x="566928" y="1645920"/>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Shape 3"/>
          <p:cNvSpPr/>
          <p:nvPr/>
        </p:nvSpPr>
        <p:spPr>
          <a:xfrm>
            <a:off x="841248" y="1883664"/>
            <a:ext cx="347472" cy="347472"/>
          </a:xfrm>
          <a:prstGeom prst="roundRect">
            <a:avLst>
              <a:gd name="adj" fmla="val 26316"/>
            </a:avLst>
          </a:prstGeom>
          <a:solidFill>
            <a:srgbClr val="02C39A"/>
          </a:solidFill>
          <a:ln w="12700">
            <a:solidFill>
              <a:srgbClr val="02C39A"/>
            </a:solidFill>
            <a:prstDash val="solid"/>
          </a:ln>
        </p:spPr>
      </p:sp>
      <p:sp>
        <p:nvSpPr>
          <p:cNvPr id="6" name="Text 4"/>
          <p:cNvSpPr txBox="1"/>
          <p:nvPr/>
        </p:nvSpPr>
        <p:spPr>
          <a:xfrm>
            <a:off x="841248" y="1883664"/>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298448" y="1883664"/>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Asking is free</a:t>
            </a:r>
            <a:endParaRPr lang="en-US" sz="1500" dirty="0"/>
          </a:p>
        </p:txBody>
      </p:sp>
      <p:sp>
        <p:nvSpPr>
          <p:cNvPr id="8" name="Text 6"/>
          <p:cNvSpPr txBox="1"/>
          <p:nvPr/>
        </p:nvSpPr>
        <p:spPr>
          <a:xfrm>
            <a:off x="841248" y="2340864"/>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The evaluator scores recommendations before reading ask_attribute. So we always do both, and the design problem inverts: when to STOP asking.</a:t>
            </a:r>
            <a:endParaRPr lang="en-US" sz="1250" dirty="0"/>
          </a:p>
        </p:txBody>
      </p:sp>
      <p:sp>
        <p:nvSpPr>
          <p:cNvPr id="9" name="Shape 7"/>
          <p:cNvSpPr/>
          <p:nvPr/>
        </p:nvSpPr>
        <p:spPr>
          <a:xfrm>
            <a:off x="6281928" y="1645920"/>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0" name="Shape 8"/>
          <p:cNvSpPr/>
          <p:nvPr/>
        </p:nvSpPr>
        <p:spPr>
          <a:xfrm>
            <a:off x="6556248" y="1883664"/>
            <a:ext cx="347472" cy="347472"/>
          </a:xfrm>
          <a:prstGeom prst="roundRect">
            <a:avLst>
              <a:gd name="adj" fmla="val 26316"/>
            </a:avLst>
          </a:prstGeom>
          <a:solidFill>
            <a:srgbClr val="02C39A"/>
          </a:solidFill>
          <a:ln w="12700">
            <a:solidFill>
              <a:srgbClr val="02C39A"/>
            </a:solidFill>
            <a:prstDash val="solid"/>
          </a:ln>
        </p:spPr>
      </p:sp>
      <p:sp>
        <p:nvSpPr>
          <p:cNvPr id="11" name="Text 9"/>
          <p:cNvSpPr txBox="1"/>
          <p:nvPr/>
        </p:nvSpPr>
        <p:spPr>
          <a:xfrm>
            <a:off x="6556248" y="1883664"/>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7013448" y="1883664"/>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Questions ranked by measured yield</a:t>
            </a:r>
            <a:endParaRPr lang="en-US" sz="1500" dirty="0"/>
          </a:p>
        </p:txBody>
      </p:sp>
      <p:sp>
        <p:nvSpPr>
          <p:cNvPr id="13" name="Text 11"/>
          <p:cNvSpPr txBox="1"/>
          <p:nvPr/>
        </p:nvSpPr>
        <p:spPr>
          <a:xfrm>
            <a:off x="6556248" y="2340864"/>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We classified every target's disclosable constraints through the evaluator's own logic. feature yields in 96% of sessions; budget, brand and category yield 0% — so we never ask them.</a:t>
            </a:r>
            <a:endParaRPr lang="en-US" sz="1250" dirty="0"/>
          </a:p>
        </p:txBody>
      </p:sp>
      <p:sp>
        <p:nvSpPr>
          <p:cNvPr id="14" name="Shape 12"/>
          <p:cNvSpPr/>
          <p:nvPr/>
        </p:nvSpPr>
        <p:spPr>
          <a:xfrm>
            <a:off x="566928" y="3767328"/>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5" name="Shape 13"/>
          <p:cNvSpPr/>
          <p:nvPr/>
        </p:nvSpPr>
        <p:spPr>
          <a:xfrm>
            <a:off x="841248" y="4005072"/>
            <a:ext cx="347472" cy="347472"/>
          </a:xfrm>
          <a:prstGeom prst="roundRect">
            <a:avLst>
              <a:gd name="adj" fmla="val 26316"/>
            </a:avLst>
          </a:prstGeom>
          <a:solidFill>
            <a:srgbClr val="02C39A"/>
          </a:solidFill>
          <a:ln w="12700">
            <a:solidFill>
              <a:srgbClr val="02C39A"/>
            </a:solidFill>
            <a:prstDash val="solid"/>
          </a:ln>
        </p:spPr>
      </p:sp>
      <p:sp>
        <p:nvSpPr>
          <p:cNvPr id="16" name="Text 14"/>
          <p:cNvSpPr txBox="1"/>
          <p:nvPr/>
        </p:nvSpPr>
        <p:spPr>
          <a:xfrm>
            <a:off x="841248" y="4005072"/>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298448" y="4005072"/>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 bucket is not emptied by one answer</a:t>
            </a:r>
            <a:endParaRPr lang="en-US" sz="1500" dirty="0"/>
          </a:p>
        </p:txBody>
      </p:sp>
      <p:sp>
        <p:nvSpPr>
          <p:cNvPr id="18" name="Text 16"/>
          <p:cNvSpPr txBox="1"/>
          <p:nvPr/>
        </p:nvSpPr>
        <p:spPr>
          <a:xfrm>
            <a:off x="841248" y="4462272"/>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The customer releases at most two constraints per question. Treating an attribute as settled on first reply cost us 0.166 — our single largest bug.</a:t>
            </a:r>
            <a:endParaRPr lang="en-US" sz="1250" dirty="0"/>
          </a:p>
        </p:txBody>
      </p:sp>
      <p:sp>
        <p:nvSpPr>
          <p:cNvPr id="19" name="Shape 17"/>
          <p:cNvSpPr/>
          <p:nvPr/>
        </p:nvSpPr>
        <p:spPr>
          <a:xfrm>
            <a:off x="6281928" y="3767328"/>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0" name="Shape 18"/>
          <p:cNvSpPr/>
          <p:nvPr/>
        </p:nvSpPr>
        <p:spPr>
          <a:xfrm>
            <a:off x="6556248" y="4005072"/>
            <a:ext cx="347472" cy="347472"/>
          </a:xfrm>
          <a:prstGeom prst="roundRect">
            <a:avLst>
              <a:gd name="adj" fmla="val 26316"/>
            </a:avLst>
          </a:prstGeom>
          <a:solidFill>
            <a:srgbClr val="02C39A"/>
          </a:solidFill>
          <a:ln w="12700">
            <a:solidFill>
              <a:srgbClr val="02C39A"/>
            </a:solidFill>
            <a:prstDash val="solid"/>
          </a:ln>
        </p:spPr>
      </p:sp>
      <p:sp>
        <p:nvSpPr>
          <p:cNvPr id="21" name="Text 19"/>
          <p:cNvSpPr txBox="1"/>
          <p:nvPr/>
        </p:nvSpPr>
        <p:spPr>
          <a:xfrm>
            <a:off x="6556248" y="4005072"/>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013448" y="4005072"/>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Reward completeness, not term frequency</a:t>
            </a:r>
            <a:endParaRPr lang="en-US" sz="1500" dirty="0"/>
          </a:p>
        </p:txBody>
      </p:sp>
      <p:sp>
        <p:nvSpPr>
          <p:cNvPr id="23" name="Text 21"/>
          <p:cNvSpPr txBox="1"/>
          <p:nvPr/>
        </p:nvSpPr>
        <p:spPr>
          <a:xfrm>
            <a:off x="6556248" y="4462272"/>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Constraints are quoted verbatim from the target's own listing — 97.1% appear literally in its text. BM25 rewards repetition; coverage rewards satisfying every requirement.</a:t>
            </a:r>
            <a:endParaRPr lang="en-US" sz="1250" dirty="0"/>
          </a:p>
        </p:txBody>
      </p:sp>
      <p:sp>
        <p:nvSpPr>
          <p:cNvPr id="24" name="Text 22"/>
          <p:cNvSpPr txBox="1"/>
          <p:nvPr/>
        </p:nvSpPr>
        <p:spPr>
          <a:xfrm>
            <a:off x="566928" y="5998464"/>
            <a:ext cx="11064240" cy="347472"/>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Each was derived from the data, not assumed — and each is documented with its measurement in the repository.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566928" y="457200"/>
            <a:ext cx="7315200" cy="256032"/>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REJECTED ON EVIDENCE</a:t>
            </a:r>
            <a:endParaRPr lang="en-US" sz="1200" dirty="0"/>
          </a:p>
        </p:txBody>
      </p:sp>
      <p:sp>
        <p:nvSpPr>
          <p:cNvPr id="3" name="Text 1"/>
          <p:cNvSpPr txBox="1"/>
          <p:nvPr/>
        </p:nvSpPr>
        <p:spPr>
          <a:xfrm>
            <a:off x="566928" y="7315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chose not to ship</a:t>
            </a:r>
            <a:endParaRPr lang="en-US" sz="3400" dirty="0"/>
          </a:p>
        </p:txBody>
      </p:sp>
      <p:sp>
        <p:nvSpPr>
          <p:cNvPr id="4" name="Text 2"/>
          <p:cNvSpPr txBox="1"/>
          <p:nvPr/>
        </p:nvSpPr>
        <p:spPr>
          <a:xfrm>
            <a:off x="566928" y="1408176"/>
            <a:ext cx="10881360" cy="365760"/>
          </a:xfrm>
          <a:prstGeom prst="rect">
            <a:avLst/>
          </a:prstGeom>
          <a:noFill/>
          <a:ln/>
        </p:spPr>
        <p:txBody>
          <a:bodyPr wrap="square" lIns="0" tIns="0" rIns="0" bIns="0" rtlCol="0" anchor="ctr"/>
          <a:lstStyle/>
          <a:p>
            <a:pPr indent="0" marL="0">
              <a:buNone/>
            </a:pPr>
            <a:r>
              <a:rPr lang="en-US" sz="1500" dirty="0">
                <a:solidFill>
                  <a:srgbClr val="9FB4B8"/>
                </a:solidFill>
                <a:latin typeface="Calibri" pitchFamily="34" charset="0"/>
                <a:ea typeface="Calibri" pitchFamily="34" charset="-122"/>
                <a:cs typeface="Calibri" pitchFamily="34" charset="-120"/>
              </a:rPr>
              <a:t>All four were in our original plan. We built enough of each to measure it, then cut it.</a:t>
            </a:r>
            <a:endParaRPr lang="en-US" sz="1500" dirty="0"/>
          </a:p>
        </p:txBody>
      </p:sp>
      <p:sp>
        <p:nvSpPr>
          <p:cNvPr id="5" name="Shape 3"/>
          <p:cNvSpPr/>
          <p:nvPr/>
        </p:nvSpPr>
        <p:spPr>
          <a:xfrm>
            <a:off x="566928" y="2011680"/>
            <a:ext cx="2624328" cy="2962656"/>
          </a:xfrm>
          <a:prstGeom prst="roundRect">
            <a:avLst>
              <a:gd name="adj" fmla="val 2091"/>
            </a:avLst>
          </a:prstGeom>
          <a:solidFill>
            <a:srgbClr val="13323B"/>
          </a:solidFill>
          <a:ln w="12700">
            <a:solidFill>
              <a:srgbClr val="13323B"/>
            </a:solidFill>
            <a:prstDash val="solid"/>
          </a:ln>
        </p:spPr>
      </p:sp>
      <p:sp>
        <p:nvSpPr>
          <p:cNvPr id="6" name="Text 4"/>
          <p:cNvSpPr txBox="1"/>
          <p:nvPr/>
        </p:nvSpPr>
        <p:spPr>
          <a:xfrm>
            <a:off x="804672" y="2212848"/>
            <a:ext cx="2194560" cy="329184"/>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LLM reranker</a:t>
            </a:r>
            <a:endParaRPr lang="en-US" sz="1450" dirty="0"/>
          </a:p>
        </p:txBody>
      </p:sp>
      <p:sp>
        <p:nvSpPr>
          <p:cNvPr id="7" name="Text 5"/>
          <p:cNvSpPr txBox="1"/>
          <p:nvPr/>
        </p:nvSpPr>
        <p:spPr>
          <a:xfrm>
            <a:off x="804672" y="2578608"/>
            <a:ext cx="2194560" cy="530352"/>
          </a:xfrm>
          <a:prstGeom prst="rect">
            <a:avLst/>
          </a:prstGeom>
          <a:noFill/>
          <a:ln/>
        </p:spPr>
        <p:txBody>
          <a:bodyPr wrap="square" lIns="0" tIns="0" rIns="0" bIns="0" rtlCol="0" anchor="ctr"/>
          <a:lstStyle/>
          <a:p>
            <a:pPr indent="0" marL="0">
              <a:buNone/>
            </a:pPr>
            <a:r>
              <a:rPr lang="en-US" sz="2600" b="1" dirty="0">
                <a:solidFill>
                  <a:srgbClr val="FF8A80"/>
                </a:solidFill>
                <a:latin typeface="Cambria" pitchFamily="34" charset="0"/>
                <a:ea typeface="Cambria" pitchFamily="34" charset="-122"/>
                <a:cs typeface="Cambria" pitchFamily="34" charset="-120"/>
              </a:rPr>
              <a:t>-0.011</a:t>
            </a:r>
            <a:endParaRPr lang="en-US" sz="2600" dirty="0"/>
          </a:p>
        </p:txBody>
      </p:sp>
      <p:sp>
        <p:nvSpPr>
          <p:cNvPr id="8" name="Text 6"/>
          <p:cNvSpPr txBox="1"/>
          <p:nvPr/>
        </p:nvSpPr>
        <p:spPr>
          <a:xfrm>
            <a:off x="804672" y="3182112"/>
            <a:ext cx="2176272" cy="1664208"/>
          </a:xfrm>
          <a:prstGeom prst="rect">
            <a:avLst/>
          </a:prstGeom>
          <a:noFill/>
          <a:ln/>
        </p:spPr>
        <p:txBody>
          <a:bodyPr wrap="square" lIns="0" tIns="0" rIns="0" bIns="0" rtlCol="0" anchor="ctr"/>
          <a:lstStyle/>
          <a:p>
            <a:pPr indent="0" marL="0">
              <a:lnSpc>
                <a:spcPts val="1400"/>
              </a:lnSpc>
              <a:buNone/>
            </a:pPr>
            <a:r>
              <a:rPr lang="en-US" sz="1100" dirty="0">
                <a:solidFill>
                  <a:srgbClr val="9FB4B8"/>
                </a:solidFill>
                <a:latin typeface="Calibri" pitchFamily="34" charset="0"/>
                <a:ea typeface="Calibri" pitchFamily="34" charset="-122"/>
                <a:cs typeface="Calibri" pitchFamily="34" charset="-120"/>
              </a:rPr>
              <a:t>Tested on 40 real sessions. Lifted ambiguous cases (+0.041 MRR) but demoted already-correct ones (-0.107). Half our sessions are already rank-1 and can only lose.</a:t>
            </a:r>
            <a:endParaRPr lang="en-US" sz="1100" dirty="0"/>
          </a:p>
        </p:txBody>
      </p:sp>
      <p:sp>
        <p:nvSpPr>
          <p:cNvPr id="9" name="Shape 7"/>
          <p:cNvSpPr/>
          <p:nvPr/>
        </p:nvSpPr>
        <p:spPr>
          <a:xfrm>
            <a:off x="3392424" y="2011680"/>
            <a:ext cx="2624328" cy="2962656"/>
          </a:xfrm>
          <a:prstGeom prst="roundRect">
            <a:avLst>
              <a:gd name="adj" fmla="val 2091"/>
            </a:avLst>
          </a:prstGeom>
          <a:solidFill>
            <a:srgbClr val="13323B"/>
          </a:solidFill>
          <a:ln w="12700">
            <a:solidFill>
              <a:srgbClr val="13323B"/>
            </a:solidFill>
            <a:prstDash val="solid"/>
          </a:ln>
        </p:spPr>
      </p:sp>
      <p:sp>
        <p:nvSpPr>
          <p:cNvPr id="10" name="Text 8"/>
          <p:cNvSpPr txBox="1"/>
          <p:nvPr/>
        </p:nvSpPr>
        <p:spPr>
          <a:xfrm>
            <a:off x="3630168" y="2212848"/>
            <a:ext cx="2194560" cy="329184"/>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Profile boosting</a:t>
            </a:r>
            <a:endParaRPr lang="en-US" sz="1450" dirty="0"/>
          </a:p>
        </p:txBody>
      </p:sp>
      <p:sp>
        <p:nvSpPr>
          <p:cNvPr id="11" name="Text 9"/>
          <p:cNvSpPr txBox="1"/>
          <p:nvPr/>
        </p:nvSpPr>
        <p:spPr>
          <a:xfrm>
            <a:off x="3630168" y="2578608"/>
            <a:ext cx="2194560" cy="530352"/>
          </a:xfrm>
          <a:prstGeom prst="rect">
            <a:avLst/>
          </a:prstGeom>
          <a:noFill/>
          <a:ln/>
        </p:spPr>
        <p:txBody>
          <a:bodyPr wrap="square" lIns="0" tIns="0" rIns="0" bIns="0" rtlCol="0" anchor="ctr"/>
          <a:lstStyle/>
          <a:p>
            <a:pPr indent="0" marL="0">
              <a:buNone/>
            </a:pPr>
            <a:r>
              <a:rPr lang="en-US" sz="2600" b="1" dirty="0">
                <a:solidFill>
                  <a:srgbClr val="FF8A80"/>
                </a:solidFill>
                <a:latin typeface="Cambria" pitchFamily="34" charset="0"/>
                <a:ea typeface="Cambria" pitchFamily="34" charset="-122"/>
                <a:cs typeface="Cambria" pitchFamily="34" charset="-120"/>
              </a:rPr>
              <a:t>-0.036</a:t>
            </a:r>
            <a:endParaRPr lang="en-US" sz="2600" dirty="0"/>
          </a:p>
        </p:txBody>
      </p:sp>
      <p:sp>
        <p:nvSpPr>
          <p:cNvPr id="12" name="Text 10"/>
          <p:cNvSpPr txBox="1"/>
          <p:nvPr/>
        </p:nvSpPr>
        <p:spPr>
          <a:xfrm>
            <a:off x="3630168" y="3182112"/>
            <a:ext cx="2176272" cy="1664208"/>
          </a:xfrm>
          <a:prstGeom prst="rect">
            <a:avLst/>
          </a:prstGeom>
          <a:noFill/>
          <a:ln/>
        </p:spPr>
        <p:txBody>
          <a:bodyPr wrap="square" lIns="0" tIns="0" rIns="0" bIns="0" rtlCol="0" anchor="ctr"/>
          <a:lstStyle/>
          <a:p>
            <a:pPr indent="0" marL="0">
              <a:lnSpc>
                <a:spcPts val="1400"/>
              </a:lnSpc>
              <a:buNone/>
            </a:pPr>
            <a:r>
              <a:rPr lang="en-US" sz="1100" dirty="0">
                <a:solidFill>
                  <a:srgbClr val="9FB4B8"/>
                </a:solidFill>
                <a:latin typeface="Calibri" pitchFamily="34" charset="0"/>
                <a:ea typeface="Calibri" pitchFamily="34" charset="-122"/>
                <a:cs typeface="Calibri" pitchFamily="34" charset="-120"/>
              </a:rPr>
              <a:t>preference_tags match the target 1.72x more than a random product — but only 1.12x against the candidates actually competing.</a:t>
            </a:r>
            <a:endParaRPr lang="en-US" sz="1100" dirty="0"/>
          </a:p>
        </p:txBody>
      </p:sp>
      <p:sp>
        <p:nvSpPr>
          <p:cNvPr id="13" name="Shape 11"/>
          <p:cNvSpPr/>
          <p:nvPr/>
        </p:nvSpPr>
        <p:spPr>
          <a:xfrm>
            <a:off x="6217920" y="2011680"/>
            <a:ext cx="2624328" cy="2962656"/>
          </a:xfrm>
          <a:prstGeom prst="roundRect">
            <a:avLst>
              <a:gd name="adj" fmla="val 2091"/>
            </a:avLst>
          </a:prstGeom>
          <a:solidFill>
            <a:srgbClr val="13323B"/>
          </a:solidFill>
          <a:ln w="12700">
            <a:solidFill>
              <a:srgbClr val="13323B"/>
            </a:solidFill>
            <a:prstDash val="solid"/>
          </a:ln>
        </p:spPr>
      </p:sp>
      <p:sp>
        <p:nvSpPr>
          <p:cNvPr id="14" name="Text 12"/>
          <p:cNvSpPr txBox="1"/>
          <p:nvPr/>
        </p:nvSpPr>
        <p:spPr>
          <a:xfrm>
            <a:off x="6455664" y="2212848"/>
            <a:ext cx="2194560" cy="329184"/>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Title weighting</a:t>
            </a:r>
            <a:endParaRPr lang="en-US" sz="1450" dirty="0"/>
          </a:p>
        </p:txBody>
      </p:sp>
      <p:sp>
        <p:nvSpPr>
          <p:cNvPr id="15" name="Text 13"/>
          <p:cNvSpPr txBox="1"/>
          <p:nvPr/>
        </p:nvSpPr>
        <p:spPr>
          <a:xfrm>
            <a:off x="6455664" y="2578608"/>
            <a:ext cx="2194560" cy="530352"/>
          </a:xfrm>
          <a:prstGeom prst="rect">
            <a:avLst/>
          </a:prstGeom>
          <a:noFill/>
          <a:ln/>
        </p:spPr>
        <p:txBody>
          <a:bodyPr wrap="square" lIns="0" tIns="0" rIns="0" bIns="0" rtlCol="0" anchor="ctr"/>
          <a:lstStyle/>
          <a:p>
            <a:pPr indent="0" marL="0">
              <a:buNone/>
            </a:pPr>
            <a:r>
              <a:rPr lang="en-US" sz="2600" b="1" dirty="0">
                <a:solidFill>
                  <a:srgbClr val="FF8A80"/>
                </a:solidFill>
                <a:latin typeface="Cambria" pitchFamily="34" charset="0"/>
                <a:ea typeface="Cambria" pitchFamily="34" charset="-122"/>
                <a:cs typeface="Cambria" pitchFamily="34" charset="-120"/>
              </a:rPr>
              <a:t>-0.022</a:t>
            </a:r>
            <a:endParaRPr lang="en-US" sz="2600" dirty="0"/>
          </a:p>
        </p:txBody>
      </p:sp>
      <p:sp>
        <p:nvSpPr>
          <p:cNvPr id="16" name="Text 14"/>
          <p:cNvSpPr txBox="1"/>
          <p:nvPr/>
        </p:nvSpPr>
        <p:spPr>
          <a:xfrm>
            <a:off x="6455664" y="3182112"/>
            <a:ext cx="2176272" cy="1664208"/>
          </a:xfrm>
          <a:prstGeom prst="rect">
            <a:avLst/>
          </a:prstGeom>
          <a:noFill/>
          <a:ln/>
        </p:spPr>
        <p:txBody>
          <a:bodyPr wrap="square" lIns="0" tIns="0" rIns="0" bIns="0" rtlCol="0" anchor="ctr"/>
          <a:lstStyle/>
          <a:p>
            <a:pPr indent="0" marL="0">
              <a:lnSpc>
                <a:spcPts val="1400"/>
              </a:lnSpc>
              <a:buNone/>
            </a:pPr>
            <a:r>
              <a:rPr lang="en-US" sz="1100" dirty="0">
                <a:solidFill>
                  <a:srgbClr val="9FB4B8"/>
                </a:solidFill>
                <a:latin typeface="Calibri" pitchFamily="34" charset="0"/>
                <a:ea typeface="Calibri" pitchFamily="34" charset="-122"/>
                <a:cs typeface="Calibri" pitchFamily="34" charset="-120"/>
              </a:rPr>
              <a:t>Rewarding a requirement named in the title. Principled, but constraints come from the features and details fields, not titles.</a:t>
            </a:r>
            <a:endParaRPr lang="en-US" sz="1100" dirty="0"/>
          </a:p>
        </p:txBody>
      </p:sp>
      <p:sp>
        <p:nvSpPr>
          <p:cNvPr id="17" name="Shape 15"/>
          <p:cNvSpPr/>
          <p:nvPr/>
        </p:nvSpPr>
        <p:spPr>
          <a:xfrm>
            <a:off x="9043416" y="2011680"/>
            <a:ext cx="2624328" cy="2962656"/>
          </a:xfrm>
          <a:prstGeom prst="roundRect">
            <a:avLst>
              <a:gd name="adj" fmla="val 2091"/>
            </a:avLst>
          </a:prstGeom>
          <a:solidFill>
            <a:srgbClr val="13323B"/>
          </a:solidFill>
          <a:ln w="12700">
            <a:solidFill>
              <a:srgbClr val="13323B"/>
            </a:solidFill>
            <a:prstDash val="solid"/>
          </a:ln>
        </p:spPr>
      </p:sp>
      <p:sp>
        <p:nvSpPr>
          <p:cNvPr id="18" name="Text 16"/>
          <p:cNvSpPr txBox="1"/>
          <p:nvPr/>
        </p:nvSpPr>
        <p:spPr>
          <a:xfrm>
            <a:off x="9281160" y="2212848"/>
            <a:ext cx="2194560" cy="329184"/>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Dense retrieval</a:t>
            </a:r>
            <a:endParaRPr lang="en-US" sz="1450" dirty="0"/>
          </a:p>
        </p:txBody>
      </p:sp>
      <p:sp>
        <p:nvSpPr>
          <p:cNvPr id="19" name="Text 17"/>
          <p:cNvSpPr txBox="1"/>
          <p:nvPr/>
        </p:nvSpPr>
        <p:spPr>
          <a:xfrm>
            <a:off x="9281160" y="2578608"/>
            <a:ext cx="2194560" cy="530352"/>
          </a:xfrm>
          <a:prstGeom prst="rect">
            <a:avLst/>
          </a:prstGeom>
          <a:noFill/>
          <a:ln/>
        </p:spPr>
        <p:txBody>
          <a:bodyPr wrap="square" lIns="0" tIns="0" rIns="0" bIns="0" rtlCol="0" anchor="ctr"/>
          <a:lstStyle/>
          <a:p>
            <a:pPr indent="0" marL="0">
              <a:buNone/>
            </a:pPr>
            <a:r>
              <a:rPr lang="en-US" sz="2600" b="1" dirty="0">
                <a:solidFill>
                  <a:srgbClr val="FF8A80"/>
                </a:solidFill>
                <a:latin typeface="Cambria" pitchFamily="34" charset="0"/>
                <a:ea typeface="Cambria" pitchFamily="34" charset="-122"/>
                <a:cs typeface="Cambria" pitchFamily="34" charset="-120"/>
              </a:rPr>
              <a:t>no gain</a:t>
            </a:r>
            <a:endParaRPr lang="en-US" sz="2600" dirty="0"/>
          </a:p>
        </p:txBody>
      </p:sp>
      <p:sp>
        <p:nvSpPr>
          <p:cNvPr id="20" name="Text 18"/>
          <p:cNvSpPr txBox="1"/>
          <p:nvPr/>
        </p:nvSpPr>
        <p:spPr>
          <a:xfrm>
            <a:off x="9281160" y="3182112"/>
            <a:ext cx="2176272" cy="1664208"/>
          </a:xfrm>
          <a:prstGeom prst="rect">
            <a:avLst/>
          </a:prstGeom>
          <a:noFill/>
          <a:ln/>
        </p:spPr>
        <p:txBody>
          <a:bodyPr wrap="square" lIns="0" tIns="0" rIns="0" bIns="0" rtlCol="0" anchor="ctr"/>
          <a:lstStyle/>
          <a:p>
            <a:pPr indent="0" marL="0">
              <a:lnSpc>
                <a:spcPts val="1400"/>
              </a:lnSpc>
              <a:buNone/>
            </a:pPr>
            <a:r>
              <a:rPr lang="en-US" sz="1100" dirty="0">
                <a:solidFill>
                  <a:srgbClr val="9FB4B8"/>
                </a:solidFill>
                <a:latin typeface="Calibri" pitchFamily="34" charset="0"/>
                <a:ea typeface="Calibri" pitchFamily="34" charset="-122"/>
                <a:cs typeface="Calibri" pitchFamily="34" charset="-120"/>
              </a:rPr>
              <a:t>Retrieval saturated at 197/200. The three failures are ranking misses, not coverage misses, so a second route adds nothing.</a:t>
            </a:r>
            <a:endParaRPr lang="en-US" sz="1100" dirty="0"/>
          </a:p>
        </p:txBody>
      </p:sp>
      <p:sp>
        <p:nvSpPr>
          <p:cNvPr id="21" name="Text 19"/>
          <p:cNvSpPr txBox="1"/>
          <p:nvPr/>
        </p:nvSpPr>
        <p:spPr>
          <a:xfrm>
            <a:off x="566928" y="5230368"/>
            <a:ext cx="11064240" cy="402336"/>
          </a:xfrm>
          <a:prstGeom prst="rect">
            <a:avLst/>
          </a:prstGeom>
          <a:noFill/>
          <a:ln/>
        </p:spPr>
        <p:txBody>
          <a:bodyPr wrap="square" lIns="0" tIns="0" rIns="0" bIns="0" rtlCol="0" anchor="ctr"/>
          <a:lstStyle/>
          <a:p>
            <a:pPr indent="0" marL="0">
              <a:buNone/>
            </a:pPr>
            <a:r>
              <a:rPr lang="en-US" sz="1900" b="1" dirty="0">
                <a:solidFill>
                  <a:srgbClr val="02C39A"/>
                </a:solidFill>
                <a:latin typeface="Cambria" pitchFamily="34" charset="0"/>
                <a:ea typeface="Cambria" pitchFamily="34" charset="-122"/>
                <a:cs typeface="Cambria" pitchFamily="34" charset="-120"/>
              </a:rPr>
              <a:t>A feature with real lift against a random baseline can be worthless against a strong one.</a:t>
            </a:r>
            <a:endParaRPr lang="en-US" sz="1900" dirty="0"/>
          </a:p>
        </p:txBody>
      </p:sp>
      <p:sp>
        <p:nvSpPr>
          <p:cNvPr id="22" name="Text 20"/>
          <p:cNvSpPr txBox="1"/>
          <p:nvPr/>
        </p:nvSpPr>
        <p:spPr>
          <a:xfrm>
            <a:off x="566928" y="5650992"/>
            <a:ext cx="11064240" cy="365760"/>
          </a:xfrm>
          <a:prstGeom prst="rect">
            <a:avLst/>
          </a:prstGeom>
          <a:noFill/>
          <a:ln/>
        </p:spPr>
        <p:txBody>
          <a:bodyPr wrap="square" lIns="0" tIns="0" rIns="0" bIns="0" rtlCol="0" anchor="ctr"/>
          <a:lstStyle/>
          <a:p>
            <a:pPr indent="0" marL="0">
              <a:buNone/>
            </a:pPr>
            <a:r>
              <a:rPr lang="en-US" sz="1350" dirty="0">
                <a:solidFill>
                  <a:srgbClr val="9FB4B8"/>
                </a:solidFill>
                <a:latin typeface="Calibri" pitchFamily="34" charset="0"/>
                <a:ea typeface="Calibri" pitchFamily="34" charset="-122"/>
                <a:cs typeface="Calibri" pitchFamily="34" charset="-120"/>
              </a:rPr>
              <a:t>Our pipeline is offline because we measured the alternative and it was worse — not because we ran out of time.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FINAL RESULTS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197 of 200 sessions convert — 60% on the first message</a:t>
            </a:r>
            <a:endParaRPr lang="en-US" sz="3400" dirty="0"/>
          </a:p>
        </p:txBody>
      </p:sp>
      <p:sp>
        <p:nvSpPr>
          <p:cNvPr id="4" name="Shape 2"/>
          <p:cNvSpPr/>
          <p:nvPr/>
        </p:nvSpPr>
        <p:spPr>
          <a:xfrm>
            <a:off x="56692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0467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0.985</a:t>
            </a:r>
            <a:endParaRPr lang="en-US" sz="3800" dirty="0"/>
          </a:p>
        </p:txBody>
      </p:sp>
      <p:sp>
        <p:nvSpPr>
          <p:cNvPr id="6" name="Text 4"/>
          <p:cNvSpPr txBox="1"/>
          <p:nvPr/>
        </p:nvSpPr>
        <p:spPr>
          <a:xfrm>
            <a:off x="82296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Hit Rate@10</a:t>
            </a:r>
            <a:endParaRPr lang="en-US" sz="1350" dirty="0"/>
          </a:p>
        </p:txBody>
      </p:sp>
      <p:sp>
        <p:nvSpPr>
          <p:cNvPr id="7" name="Text 5"/>
          <p:cNvSpPr txBox="1"/>
          <p:nvPr/>
        </p:nvSpPr>
        <p:spPr>
          <a:xfrm>
            <a:off x="82296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0.125</a:t>
            </a:r>
            <a:endParaRPr lang="en-US" sz="1200" dirty="0"/>
          </a:p>
        </p:txBody>
      </p:sp>
      <p:sp>
        <p:nvSpPr>
          <p:cNvPr id="8" name="Shape 6"/>
          <p:cNvSpPr/>
          <p:nvPr/>
        </p:nvSpPr>
        <p:spPr>
          <a:xfrm>
            <a:off x="340156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363931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0.670</a:t>
            </a:r>
            <a:endParaRPr lang="en-US" sz="3800" dirty="0"/>
          </a:p>
        </p:txBody>
      </p:sp>
      <p:sp>
        <p:nvSpPr>
          <p:cNvPr id="10" name="Text 8"/>
          <p:cNvSpPr txBox="1"/>
          <p:nvPr/>
        </p:nvSpPr>
        <p:spPr>
          <a:xfrm>
            <a:off x="365760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MRR</a:t>
            </a:r>
            <a:endParaRPr lang="en-US" sz="1350" dirty="0"/>
          </a:p>
        </p:txBody>
      </p:sp>
      <p:sp>
        <p:nvSpPr>
          <p:cNvPr id="11" name="Text 9"/>
          <p:cNvSpPr txBox="1"/>
          <p:nvPr/>
        </p:nvSpPr>
        <p:spPr>
          <a:xfrm>
            <a:off x="365760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0.068</a:t>
            </a:r>
            <a:endParaRPr lang="en-US" sz="1200" dirty="0"/>
          </a:p>
        </p:txBody>
      </p:sp>
      <p:sp>
        <p:nvSpPr>
          <p:cNvPr id="12" name="Shape 10"/>
          <p:cNvSpPr/>
          <p:nvPr/>
        </p:nvSpPr>
        <p:spPr>
          <a:xfrm>
            <a:off x="623620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3" name="Text 11"/>
          <p:cNvSpPr txBox="1"/>
          <p:nvPr/>
        </p:nvSpPr>
        <p:spPr>
          <a:xfrm>
            <a:off x="647395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1.875</a:t>
            </a:r>
            <a:endParaRPr lang="en-US" sz="3800" dirty="0"/>
          </a:p>
        </p:txBody>
      </p:sp>
      <p:sp>
        <p:nvSpPr>
          <p:cNvPr id="14" name="Text 12"/>
          <p:cNvSpPr txBox="1"/>
          <p:nvPr/>
        </p:nvSpPr>
        <p:spPr>
          <a:xfrm>
            <a:off x="649224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MTTC turns</a:t>
            </a:r>
            <a:endParaRPr lang="en-US" sz="1350" dirty="0"/>
          </a:p>
        </p:txBody>
      </p:sp>
      <p:sp>
        <p:nvSpPr>
          <p:cNvPr id="15" name="Text 13"/>
          <p:cNvSpPr txBox="1"/>
          <p:nvPr/>
        </p:nvSpPr>
        <p:spPr>
          <a:xfrm>
            <a:off x="649224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9.81</a:t>
            </a:r>
            <a:endParaRPr lang="en-US" sz="1200" dirty="0"/>
          </a:p>
        </p:txBody>
      </p:sp>
      <p:sp>
        <p:nvSpPr>
          <p:cNvPr id="16" name="Shape 14"/>
          <p:cNvSpPr/>
          <p:nvPr/>
        </p:nvSpPr>
        <p:spPr>
          <a:xfrm>
            <a:off x="9070848" y="1627632"/>
            <a:ext cx="2615184" cy="1572768"/>
          </a:xfrm>
          <a:prstGeom prst="roundRect">
            <a:avLst>
              <a:gd name="adj" fmla="val 3488"/>
            </a:avLst>
          </a:prstGeom>
          <a:solidFill>
            <a:srgbClr val="E3F6F1"/>
          </a:solidFill>
          <a:ln w="12700">
            <a:solidFill>
              <a:srgbClr val="E3F6F1"/>
            </a:solidFill>
            <a:prstDash val="solid"/>
          </a:ln>
          <a:effectLst>
            <a:outerShdw sx="100000" sy="100000" kx="0" ky="0" algn="bl" rotWithShape="0" blurRad="152400" dist="38100" dir="5400000">
              <a:srgbClr val="0B2027">
                <a:alpha val="16000"/>
              </a:srgbClr>
            </a:outerShdw>
          </a:effectLst>
        </p:spPr>
      </p:sp>
      <p:sp>
        <p:nvSpPr>
          <p:cNvPr id="17" name="Text 15"/>
          <p:cNvSpPr txBox="1"/>
          <p:nvPr/>
        </p:nvSpPr>
        <p:spPr>
          <a:xfrm>
            <a:off x="9308592" y="1755648"/>
            <a:ext cx="2194560" cy="658368"/>
          </a:xfrm>
          <a:prstGeom prst="rect">
            <a:avLst/>
          </a:prstGeom>
          <a:noFill/>
          <a:ln/>
        </p:spPr>
        <p:txBody>
          <a:bodyPr wrap="square" lIns="0" tIns="0" rIns="0" bIns="0" rtlCol="0" anchor="ctr"/>
          <a:lstStyle/>
          <a:p>
            <a:pPr indent="0" marL="0">
              <a:buNone/>
            </a:pPr>
            <a:r>
              <a:rPr lang="en-US" sz="3800" b="1" dirty="0">
                <a:solidFill>
                  <a:srgbClr val="028090"/>
                </a:solidFill>
                <a:latin typeface="Cambria" pitchFamily="34" charset="0"/>
                <a:ea typeface="Cambria" pitchFamily="34" charset="-122"/>
                <a:cs typeface="Cambria" pitchFamily="34" charset="-120"/>
              </a:rPr>
              <a:t>0.876</a:t>
            </a:r>
            <a:endParaRPr lang="en-US" sz="3800" dirty="0"/>
          </a:p>
        </p:txBody>
      </p:sp>
      <p:sp>
        <p:nvSpPr>
          <p:cNvPr id="18" name="Text 16"/>
          <p:cNvSpPr txBox="1"/>
          <p:nvPr/>
        </p:nvSpPr>
        <p:spPr>
          <a:xfrm>
            <a:off x="932688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TechnicalScore</a:t>
            </a:r>
            <a:endParaRPr lang="en-US" sz="1350" dirty="0"/>
          </a:p>
        </p:txBody>
      </p:sp>
      <p:sp>
        <p:nvSpPr>
          <p:cNvPr id="19" name="Text 17"/>
          <p:cNvSpPr txBox="1"/>
          <p:nvPr/>
        </p:nvSpPr>
        <p:spPr>
          <a:xfrm>
            <a:off x="932688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0.107</a:t>
            </a:r>
            <a:endParaRPr lang="en-US" sz="1200" dirty="0"/>
          </a:p>
        </p:txBody>
      </p:sp>
      <p:sp>
        <p:nvSpPr>
          <p:cNvPr id="20" name="Text 18"/>
          <p:cNvSpPr txBox="1"/>
          <p:nvPr/>
        </p:nvSpPr>
        <p:spPr>
          <a:xfrm>
            <a:off x="566928" y="3456432"/>
            <a:ext cx="548640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Hit Rate@10 by scenario</a:t>
            </a:r>
            <a:endParaRPr lang="en-US" sz="1500" dirty="0"/>
          </a:p>
        </p:txBody>
      </p:sp>
      <p:sp>
        <p:nvSpPr>
          <p:cNvPr id="21" name="Text 19"/>
          <p:cNvSpPr txBox="1"/>
          <p:nvPr/>
        </p:nvSpPr>
        <p:spPr>
          <a:xfrm>
            <a:off x="566928" y="3858768"/>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browsing</a:t>
            </a:r>
            <a:endParaRPr lang="en-US" sz="1350" dirty="0"/>
          </a:p>
        </p:txBody>
      </p:sp>
      <p:sp>
        <p:nvSpPr>
          <p:cNvPr id="22" name="Shape 20"/>
          <p:cNvSpPr/>
          <p:nvPr/>
        </p:nvSpPr>
        <p:spPr>
          <a:xfrm>
            <a:off x="2724912" y="3959352"/>
            <a:ext cx="5852160" cy="182880"/>
          </a:xfrm>
          <a:prstGeom prst="roundRect">
            <a:avLst>
              <a:gd name="adj" fmla="val 40000"/>
            </a:avLst>
          </a:prstGeom>
          <a:solidFill>
            <a:srgbClr val="E2E9E9"/>
          </a:solidFill>
          <a:ln w="12700">
            <a:solidFill>
              <a:srgbClr val="E2E9E9"/>
            </a:solidFill>
            <a:prstDash val="solid"/>
          </a:ln>
        </p:spPr>
      </p:sp>
      <p:sp>
        <p:nvSpPr>
          <p:cNvPr id="23" name="Shape 21"/>
          <p:cNvSpPr/>
          <p:nvPr/>
        </p:nvSpPr>
        <p:spPr>
          <a:xfrm>
            <a:off x="2724912" y="3959352"/>
            <a:ext cx="5852160" cy="182880"/>
          </a:xfrm>
          <a:prstGeom prst="roundRect">
            <a:avLst>
              <a:gd name="adj" fmla="val 40000"/>
            </a:avLst>
          </a:prstGeom>
          <a:solidFill>
            <a:srgbClr val="028090"/>
          </a:solidFill>
          <a:ln w="12700">
            <a:solidFill>
              <a:srgbClr val="028090"/>
            </a:solidFill>
            <a:prstDash val="solid"/>
          </a:ln>
        </p:spPr>
      </p:sp>
      <p:sp>
        <p:nvSpPr>
          <p:cNvPr id="24" name="Text 22"/>
          <p:cNvSpPr txBox="1"/>
          <p:nvPr/>
        </p:nvSpPr>
        <p:spPr>
          <a:xfrm>
            <a:off x="8686800" y="3858768"/>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1.000</a:t>
            </a:r>
            <a:endParaRPr lang="en-US" sz="1300" dirty="0"/>
          </a:p>
        </p:txBody>
      </p:sp>
      <p:sp>
        <p:nvSpPr>
          <p:cNvPr id="25" name="Text 23"/>
          <p:cNvSpPr txBox="1"/>
          <p:nvPr/>
        </p:nvSpPr>
        <p:spPr>
          <a:xfrm>
            <a:off x="9601200" y="3858768"/>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26" name="Text 24"/>
          <p:cNvSpPr txBox="1"/>
          <p:nvPr/>
        </p:nvSpPr>
        <p:spPr>
          <a:xfrm>
            <a:off x="566928" y="4343400"/>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buying</a:t>
            </a:r>
            <a:endParaRPr lang="en-US" sz="1350" dirty="0"/>
          </a:p>
        </p:txBody>
      </p:sp>
      <p:sp>
        <p:nvSpPr>
          <p:cNvPr id="27" name="Shape 25"/>
          <p:cNvSpPr/>
          <p:nvPr/>
        </p:nvSpPr>
        <p:spPr>
          <a:xfrm>
            <a:off x="2724912" y="4443984"/>
            <a:ext cx="5852160" cy="182880"/>
          </a:xfrm>
          <a:prstGeom prst="roundRect">
            <a:avLst>
              <a:gd name="adj" fmla="val 40000"/>
            </a:avLst>
          </a:prstGeom>
          <a:solidFill>
            <a:srgbClr val="E2E9E9"/>
          </a:solidFill>
          <a:ln w="12700">
            <a:solidFill>
              <a:srgbClr val="E2E9E9"/>
            </a:solidFill>
            <a:prstDash val="solid"/>
          </a:ln>
        </p:spPr>
      </p:sp>
      <p:sp>
        <p:nvSpPr>
          <p:cNvPr id="28" name="Shape 26"/>
          <p:cNvSpPr/>
          <p:nvPr/>
        </p:nvSpPr>
        <p:spPr>
          <a:xfrm>
            <a:off x="2724912" y="4443984"/>
            <a:ext cx="5781934" cy="182880"/>
          </a:xfrm>
          <a:prstGeom prst="roundRect">
            <a:avLst>
              <a:gd name="adj" fmla="val 40000"/>
            </a:avLst>
          </a:prstGeom>
          <a:solidFill>
            <a:srgbClr val="00A896"/>
          </a:solidFill>
          <a:ln w="12700">
            <a:solidFill>
              <a:srgbClr val="00A896"/>
            </a:solidFill>
            <a:prstDash val="solid"/>
          </a:ln>
        </p:spPr>
      </p:sp>
      <p:sp>
        <p:nvSpPr>
          <p:cNvPr id="29" name="Text 27"/>
          <p:cNvSpPr txBox="1"/>
          <p:nvPr/>
        </p:nvSpPr>
        <p:spPr>
          <a:xfrm>
            <a:off x="8686800" y="4343400"/>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0.988</a:t>
            </a:r>
            <a:endParaRPr lang="en-US" sz="1300" dirty="0"/>
          </a:p>
        </p:txBody>
      </p:sp>
      <p:sp>
        <p:nvSpPr>
          <p:cNvPr id="30" name="Text 28"/>
          <p:cNvSpPr txBox="1"/>
          <p:nvPr/>
        </p:nvSpPr>
        <p:spPr>
          <a:xfrm>
            <a:off x="9601200" y="4343400"/>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31" name="Text 29"/>
          <p:cNvSpPr txBox="1"/>
          <p:nvPr/>
        </p:nvSpPr>
        <p:spPr>
          <a:xfrm>
            <a:off x="566928" y="4828032"/>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intent override</a:t>
            </a:r>
            <a:endParaRPr lang="en-US" sz="1350" dirty="0"/>
          </a:p>
        </p:txBody>
      </p:sp>
      <p:sp>
        <p:nvSpPr>
          <p:cNvPr id="32" name="Shape 30"/>
          <p:cNvSpPr/>
          <p:nvPr/>
        </p:nvSpPr>
        <p:spPr>
          <a:xfrm>
            <a:off x="2724912" y="4928616"/>
            <a:ext cx="5852160" cy="182880"/>
          </a:xfrm>
          <a:prstGeom prst="roundRect">
            <a:avLst>
              <a:gd name="adj" fmla="val 40000"/>
            </a:avLst>
          </a:prstGeom>
          <a:solidFill>
            <a:srgbClr val="E2E9E9"/>
          </a:solidFill>
          <a:ln w="12700">
            <a:solidFill>
              <a:srgbClr val="E2E9E9"/>
            </a:solidFill>
            <a:prstDash val="solid"/>
          </a:ln>
        </p:spPr>
      </p:sp>
      <p:sp>
        <p:nvSpPr>
          <p:cNvPr id="33" name="Shape 31"/>
          <p:cNvSpPr/>
          <p:nvPr/>
        </p:nvSpPr>
        <p:spPr>
          <a:xfrm>
            <a:off x="2724912" y="4928616"/>
            <a:ext cx="5659039" cy="182880"/>
          </a:xfrm>
          <a:prstGeom prst="roundRect">
            <a:avLst>
              <a:gd name="adj" fmla="val 40000"/>
            </a:avLst>
          </a:prstGeom>
          <a:solidFill>
            <a:srgbClr val="00A896"/>
          </a:solidFill>
          <a:ln w="12700">
            <a:solidFill>
              <a:srgbClr val="00A896"/>
            </a:solidFill>
            <a:prstDash val="solid"/>
          </a:ln>
        </p:spPr>
      </p:sp>
      <p:sp>
        <p:nvSpPr>
          <p:cNvPr id="34" name="Text 32"/>
          <p:cNvSpPr txBox="1"/>
          <p:nvPr/>
        </p:nvSpPr>
        <p:spPr>
          <a:xfrm>
            <a:off x="8686800" y="4828032"/>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0.967</a:t>
            </a:r>
            <a:endParaRPr lang="en-US" sz="1300" dirty="0"/>
          </a:p>
        </p:txBody>
      </p:sp>
      <p:sp>
        <p:nvSpPr>
          <p:cNvPr id="35" name="Text 33"/>
          <p:cNvSpPr txBox="1"/>
          <p:nvPr/>
        </p:nvSpPr>
        <p:spPr>
          <a:xfrm>
            <a:off x="9601200" y="4828032"/>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30 sessions</a:t>
            </a:r>
            <a:endParaRPr lang="en-US" sz="1200" dirty="0"/>
          </a:p>
        </p:txBody>
      </p:sp>
      <p:sp>
        <p:nvSpPr>
          <p:cNvPr id="36" name="Text 34"/>
          <p:cNvSpPr txBox="1"/>
          <p:nvPr/>
        </p:nvSpPr>
        <p:spPr>
          <a:xfrm>
            <a:off x="566928" y="5312664"/>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boundary</a:t>
            </a:r>
            <a:endParaRPr lang="en-US" sz="1350" dirty="0"/>
          </a:p>
        </p:txBody>
      </p:sp>
      <p:sp>
        <p:nvSpPr>
          <p:cNvPr id="37" name="Shape 35"/>
          <p:cNvSpPr/>
          <p:nvPr/>
        </p:nvSpPr>
        <p:spPr>
          <a:xfrm>
            <a:off x="2724912" y="5413248"/>
            <a:ext cx="5852160" cy="182880"/>
          </a:xfrm>
          <a:prstGeom prst="roundRect">
            <a:avLst>
              <a:gd name="adj" fmla="val 40000"/>
            </a:avLst>
          </a:prstGeom>
          <a:solidFill>
            <a:srgbClr val="E2E9E9"/>
          </a:solidFill>
          <a:ln w="12700">
            <a:solidFill>
              <a:srgbClr val="E2E9E9"/>
            </a:solidFill>
            <a:prstDash val="solid"/>
          </a:ln>
        </p:spPr>
      </p:sp>
      <p:sp>
        <p:nvSpPr>
          <p:cNvPr id="38" name="Shape 36"/>
          <p:cNvSpPr/>
          <p:nvPr/>
        </p:nvSpPr>
        <p:spPr>
          <a:xfrm>
            <a:off x="2724912" y="5413248"/>
            <a:ext cx="5266944" cy="182880"/>
          </a:xfrm>
          <a:prstGeom prst="roundRect">
            <a:avLst>
              <a:gd name="adj" fmla="val 40000"/>
            </a:avLst>
          </a:prstGeom>
          <a:solidFill>
            <a:srgbClr val="00A896"/>
          </a:solidFill>
          <a:ln w="12700">
            <a:solidFill>
              <a:srgbClr val="00A896"/>
            </a:solidFill>
            <a:prstDash val="solid"/>
          </a:ln>
        </p:spPr>
      </p:sp>
      <p:sp>
        <p:nvSpPr>
          <p:cNvPr id="39" name="Text 37"/>
          <p:cNvSpPr txBox="1"/>
          <p:nvPr/>
        </p:nvSpPr>
        <p:spPr>
          <a:xfrm>
            <a:off x="8686800" y="5312664"/>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0.900</a:t>
            </a:r>
            <a:endParaRPr lang="en-US" sz="1300" dirty="0"/>
          </a:p>
        </p:txBody>
      </p:sp>
      <p:sp>
        <p:nvSpPr>
          <p:cNvPr id="40" name="Text 38"/>
          <p:cNvSpPr txBox="1"/>
          <p:nvPr/>
        </p:nvSpPr>
        <p:spPr>
          <a:xfrm>
            <a:off x="9601200" y="5312664"/>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10 sessions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FEASIBILITY</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Built to survive the scoring environment</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41248" y="182880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$0.00</a:t>
            </a:r>
            <a:endParaRPr lang="en-US" sz="3200" dirty="0"/>
          </a:p>
        </p:txBody>
      </p:sp>
      <p:sp>
        <p:nvSpPr>
          <p:cNvPr id="6" name="Text 4"/>
          <p:cNvSpPr txBox="1"/>
          <p:nvPr/>
        </p:nvSpPr>
        <p:spPr>
          <a:xfrm>
            <a:off x="841248" y="239572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model cost</a:t>
            </a:r>
            <a:endParaRPr lang="en-US" sz="1350" dirty="0"/>
          </a:p>
        </p:txBody>
      </p:sp>
      <p:sp>
        <p:nvSpPr>
          <p:cNvPr id="7" name="Text 5"/>
          <p:cNvSpPr txBox="1"/>
          <p:nvPr/>
        </p:nvSpPr>
        <p:spPr>
          <a:xfrm>
            <a:off x="841248" y="268833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No API key, no tokens, no vendor account required to reproduce our score.</a:t>
            </a:r>
            <a:endParaRPr lang="en-US" sz="1250" dirty="0"/>
          </a:p>
        </p:txBody>
      </p:sp>
      <p:sp>
        <p:nvSpPr>
          <p:cNvPr id="8" name="Shape 6"/>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6556248" y="182880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~18 s</a:t>
            </a:r>
            <a:endParaRPr lang="en-US" sz="3200" dirty="0"/>
          </a:p>
        </p:txBody>
      </p:sp>
      <p:sp>
        <p:nvSpPr>
          <p:cNvPr id="10" name="Text 8"/>
          <p:cNvSpPr txBox="1"/>
          <p:nvPr/>
        </p:nvSpPr>
        <p:spPr>
          <a:xfrm>
            <a:off x="6556248" y="239572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for 200 sessions</a:t>
            </a:r>
            <a:endParaRPr lang="en-US" sz="1350" dirty="0"/>
          </a:p>
        </p:txBody>
      </p:sp>
      <p:sp>
        <p:nvSpPr>
          <p:cNvPr id="11" name="Text 9"/>
          <p:cNvSpPr txBox="1"/>
          <p:nvPr/>
        </p:nvSpPr>
        <p:spPr>
          <a:xfrm>
            <a:off x="6556248" y="268833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About 90 ms per session, including a one-off 4.7 s index build. 0.41 GB peak.</a:t>
            </a:r>
            <a:endParaRPr lang="en-US" sz="1250" dirty="0"/>
          </a:p>
        </p:txBody>
      </p:sp>
      <p:sp>
        <p:nvSpPr>
          <p:cNvPr id="12" name="Shape 10"/>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3" name="Text 11"/>
          <p:cNvSpPr txBox="1"/>
          <p:nvPr/>
        </p:nvSpPr>
        <p:spPr>
          <a:xfrm>
            <a:off x="841248" y="393192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0</a:t>
            </a:r>
            <a:endParaRPr lang="en-US" sz="3200" dirty="0"/>
          </a:p>
        </p:txBody>
      </p:sp>
      <p:sp>
        <p:nvSpPr>
          <p:cNvPr id="14" name="Text 12"/>
          <p:cNvSpPr txBox="1"/>
          <p:nvPr/>
        </p:nvSpPr>
        <p:spPr>
          <a:xfrm>
            <a:off x="841248" y="449884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network calls</a:t>
            </a:r>
            <a:endParaRPr lang="en-US" sz="1350" dirty="0"/>
          </a:p>
        </p:txBody>
      </p:sp>
      <p:sp>
        <p:nvSpPr>
          <p:cNvPr id="15" name="Text 13"/>
          <p:cNvSpPr txBox="1"/>
          <p:nvPr/>
        </p:nvSpPr>
        <p:spPr>
          <a:xfrm>
            <a:off x="841248" y="479145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Organiser policy may disable network at scoring. Our score is unaffected either way.</a:t>
            </a:r>
            <a:endParaRPr lang="en-US" sz="1250" dirty="0"/>
          </a:p>
        </p:txBody>
      </p:sp>
      <p:sp>
        <p:nvSpPr>
          <p:cNvPr id="16" name="Shape 14"/>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7" name="Text 15"/>
          <p:cNvSpPr txBox="1"/>
          <p:nvPr/>
        </p:nvSpPr>
        <p:spPr>
          <a:xfrm>
            <a:off x="6556248" y="393192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24</a:t>
            </a:r>
            <a:endParaRPr lang="en-US" sz="3200" dirty="0"/>
          </a:p>
        </p:txBody>
      </p:sp>
      <p:sp>
        <p:nvSpPr>
          <p:cNvPr id="18" name="Text 16"/>
          <p:cNvSpPr txBox="1"/>
          <p:nvPr/>
        </p:nvSpPr>
        <p:spPr>
          <a:xfrm>
            <a:off x="6556248" y="449884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automated tests</a:t>
            </a:r>
            <a:endParaRPr lang="en-US" sz="1350" dirty="0"/>
          </a:p>
        </p:txBody>
      </p:sp>
      <p:sp>
        <p:nvSpPr>
          <p:cNvPr id="19" name="Text 17"/>
          <p:cNvSpPr txBox="1"/>
          <p:nvPr/>
        </p:nvSpPr>
        <p:spPr>
          <a:xfrm>
            <a:off x="6556248" y="479145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Including regressions for three bugs that unit tests alone did not catch.</a:t>
            </a:r>
            <a:endParaRPr lang="en-US" sz="1250" dirty="0"/>
          </a:p>
        </p:txBody>
      </p:sp>
      <p:sp>
        <p:nvSpPr>
          <p:cNvPr id="20" name="Text 18"/>
          <p:cNvSpPr txBox="1"/>
          <p:nvPr/>
        </p:nvSpPr>
        <p:spPr>
          <a:xfrm>
            <a:off x="566928" y="5943600"/>
            <a:ext cx="11064240" cy="365760"/>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Hardened for the 800 unseen sessions: no crash on malformed profiles, empty, unicode or 54,000-character messages — and we found a latent bug where one quote character silently returned no results for a turn.</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HONEST LIMITATIONS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What we would do next, and what we are unsure of</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41248" y="186537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Popularity leans on how the benchmark was sampled</a:t>
            </a:r>
            <a:endParaRPr lang="en-US" sz="1450" dirty="0"/>
          </a:p>
        </p:txBody>
      </p:sp>
      <p:sp>
        <p:nvSpPr>
          <p:cNvPr id="6" name="Text 4"/>
          <p:cNvSpPr txBox="1"/>
          <p:nvPr/>
        </p:nvSpPr>
        <p:spPr>
          <a:xfrm>
            <a:off x="841248" y="246888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Targets are items real users bought, so review volume is genuine evidence. But it assumes the private set shares the public set's 5-core construction.</a:t>
            </a:r>
            <a:endParaRPr lang="en-US" sz="1250" dirty="0"/>
          </a:p>
        </p:txBody>
      </p:sp>
      <p:sp>
        <p:nvSpPr>
          <p:cNvPr id="7" name="Shape 5"/>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8" name="Text 6"/>
          <p:cNvSpPr txBox="1"/>
          <p:nvPr/>
        </p:nvSpPr>
        <p:spPr>
          <a:xfrm>
            <a:off x="841248" y="396849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Constraint parsing is marker-based</a:t>
            </a:r>
            <a:endParaRPr lang="en-US" sz="1450" dirty="0"/>
          </a:p>
        </p:txBody>
      </p:sp>
      <p:sp>
        <p:nvSpPr>
          <p:cNvPr id="9" name="Text 7"/>
          <p:cNvSpPr txBox="1"/>
          <p:nvPr/>
        </p:nvSpPr>
        <p:spPr>
          <a:xfrm>
            <a:off x="841248" y="457200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 paraphrase outside the phrasings we handle yields nothing. This — extraction, not ranking — is the one place an LLM would plausibly beat us.</a:t>
            </a:r>
            <a:endParaRPr lang="en-US" sz="1250" dirty="0"/>
          </a:p>
        </p:txBody>
      </p:sp>
      <p:sp>
        <p:nvSpPr>
          <p:cNvPr id="10" name="Shape 8"/>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Text 9"/>
          <p:cNvSpPr txBox="1"/>
          <p:nvPr/>
        </p:nvSpPr>
        <p:spPr>
          <a:xfrm>
            <a:off x="6556248" y="186537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A learned ranker is the last real lever</a:t>
            </a:r>
            <a:endParaRPr lang="en-US" sz="1450" dirty="0"/>
          </a:p>
        </p:txBody>
      </p:sp>
      <p:sp>
        <p:nvSpPr>
          <p:cNvPr id="12" name="Text 10"/>
          <p:cNvSpPr txBox="1"/>
          <p:nvPr/>
        </p:nvSpPr>
        <p:spPr>
          <a:xfrm>
            <a:off x="6556248" y="246888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All +0.095 of remaining headroom is in MRR. With 197/200 already hit and only 200 training sessions, a fitted model's transfer risk now rivals its upside.</a:t>
            </a:r>
            <a:endParaRPr lang="en-US" sz="1250" dirty="0"/>
          </a:p>
        </p:txBody>
      </p:sp>
      <p:sp>
        <p:nvSpPr>
          <p:cNvPr id="13" name="Shape 11"/>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4" name="Text 12"/>
          <p:cNvSpPr txBox="1"/>
          <p:nvPr/>
        </p:nvSpPr>
        <p:spPr>
          <a:xfrm>
            <a:off x="6556248" y="396849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boundary is weakest, and smallest</a:t>
            </a:r>
            <a:endParaRPr lang="en-US" sz="1450" dirty="0"/>
          </a:p>
        </p:txBody>
      </p:sp>
      <p:sp>
        <p:nvSpPr>
          <p:cNvPr id="15" name="Text 13"/>
          <p:cNvSpPr txBox="1"/>
          <p:nvPr/>
        </p:nvSpPr>
        <p:spPr>
          <a:xfrm>
            <a:off x="6556248" y="457200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0.900 across just 10 sessions. Tuning against it would fit noise, so we deliberately left it alone.</a:t>
            </a:r>
            <a:endParaRPr lang="en-US" sz="1250" dirty="0"/>
          </a:p>
        </p:txBody>
      </p:sp>
      <p:sp>
        <p:nvSpPr>
          <p:cNvPr id="16" name="Text 14"/>
          <p:cNvSpPr txBox="1"/>
          <p:nvPr/>
        </p:nvSpPr>
        <p:spPr>
          <a:xfrm>
            <a:off x="566928" y="5943600"/>
            <a:ext cx="11064240" cy="365760"/>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We would rather state an assumption we are leaning on than have a judge discover it.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566928" y="457200"/>
            <a:ext cx="7315200" cy="256032"/>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THE TEAM</a:t>
            </a:r>
            <a:endParaRPr lang="en-US" sz="1200" dirty="0"/>
          </a:p>
        </p:txBody>
      </p:sp>
      <p:sp>
        <p:nvSpPr>
          <p:cNvPr id="3" name="Text 1"/>
          <p:cNvSpPr txBox="1"/>
          <p:nvPr/>
        </p:nvSpPr>
        <p:spPr>
          <a:xfrm>
            <a:off x="566928" y="7315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Four people, one measurement discipline</a:t>
            </a:r>
            <a:endParaRPr lang="en-US" sz="3400" dirty="0"/>
          </a:p>
        </p:txBody>
      </p:sp>
      <p:sp>
        <p:nvSpPr>
          <p:cNvPr id="4" name="Text 2"/>
          <p:cNvSpPr txBox="1"/>
          <p:nvPr/>
        </p:nvSpPr>
        <p:spPr>
          <a:xfrm>
            <a:off x="566928" y="1408176"/>
            <a:ext cx="10881360" cy="365760"/>
          </a:xfrm>
          <a:prstGeom prst="rect">
            <a:avLst/>
          </a:prstGeom>
          <a:noFill/>
          <a:ln/>
        </p:spPr>
        <p:txBody>
          <a:bodyPr wrap="square" lIns="0" tIns="0" rIns="0" bIns="0" rtlCol="0" anchor="ctr"/>
          <a:lstStyle/>
          <a:p>
            <a:pPr indent="0" marL="0">
              <a:buNone/>
            </a:pPr>
            <a:r>
              <a:rPr lang="en-US" sz="1500" dirty="0">
                <a:solidFill>
                  <a:srgbClr val="9FB4B8"/>
                </a:solidFill>
                <a:latin typeface="Calibri" pitchFamily="34" charset="0"/>
                <a:ea typeface="Calibri" pitchFamily="34" charset="-122"/>
                <a:cs typeface="Calibri" pitchFamily="34" charset="-120"/>
              </a:rPr>
              <a:t>Everyone ran the evaluator. Every claim in this deck is one of us re-running it and getting the same number.</a:t>
            </a:r>
            <a:endParaRPr lang="en-US" sz="1500" dirty="0"/>
          </a:p>
        </p:txBody>
      </p:sp>
      <p:sp>
        <p:nvSpPr>
          <p:cNvPr id="5" name="Shape 3"/>
          <p:cNvSpPr/>
          <p:nvPr/>
        </p:nvSpPr>
        <p:spPr>
          <a:xfrm>
            <a:off x="566928" y="2048256"/>
            <a:ext cx="2688336" cy="3200400"/>
          </a:xfrm>
          <a:prstGeom prst="roundRect">
            <a:avLst>
              <a:gd name="adj" fmla="val 2041"/>
            </a:avLst>
          </a:prstGeom>
          <a:solidFill>
            <a:srgbClr val="13323B"/>
          </a:solidFill>
          <a:ln w="12700">
            <a:solidFill>
              <a:srgbClr val="13323B"/>
            </a:solidFill>
            <a:prstDash val="solid"/>
          </a:ln>
        </p:spPr>
      </p:sp>
      <p:sp>
        <p:nvSpPr>
          <p:cNvPr id="6" name="Shape 4"/>
          <p:cNvSpPr/>
          <p:nvPr/>
        </p:nvSpPr>
        <p:spPr>
          <a:xfrm>
            <a:off x="1344168" y="2286000"/>
            <a:ext cx="1133856" cy="1133856"/>
          </a:xfrm>
          <a:prstGeom prst="ellipse">
            <a:avLst/>
          </a:prstGeom>
          <a:solidFill>
            <a:srgbClr val="028090"/>
          </a:solidFill>
          <a:ln w="25400">
            <a:solidFill>
              <a:srgbClr val="02C39A"/>
            </a:solidFill>
            <a:prstDash val="solid"/>
          </a:ln>
        </p:spPr>
      </p:sp>
      <p:sp>
        <p:nvSpPr>
          <p:cNvPr id="7" name="Text 5"/>
          <p:cNvSpPr txBox="1"/>
          <p:nvPr/>
        </p:nvSpPr>
        <p:spPr>
          <a:xfrm>
            <a:off x="1344168" y="2286000"/>
            <a:ext cx="1133856" cy="1133856"/>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QE</a:t>
            </a:r>
            <a:endParaRPr lang="en-US" sz="3400" dirty="0"/>
          </a:p>
        </p:txBody>
      </p:sp>
      <p:sp>
        <p:nvSpPr>
          <p:cNvPr id="8" name="Text 6"/>
          <p:cNvSpPr txBox="1"/>
          <p:nvPr/>
        </p:nvSpPr>
        <p:spPr>
          <a:xfrm>
            <a:off x="74980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Qiao Enn</a:t>
            </a:r>
            <a:endParaRPr lang="en-US" sz="1600" dirty="0"/>
          </a:p>
        </p:txBody>
      </p:sp>
      <p:sp>
        <p:nvSpPr>
          <p:cNvPr id="9" name="Text 7"/>
          <p:cNvSpPr txBox="1"/>
          <p:nvPr/>
        </p:nvSpPr>
        <p:spPr>
          <a:xfrm>
            <a:off x="74980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Dialogue</a:t>
            </a:r>
            <a:endParaRPr lang="en-US" sz="1250" dirty="0"/>
          </a:p>
        </p:txBody>
      </p:sp>
      <p:sp>
        <p:nvSpPr>
          <p:cNvPr id="10" name="Text 8"/>
          <p:cNvSpPr txBox="1"/>
          <p:nvPr/>
        </p:nvSpPr>
        <p:spPr>
          <a:xfrm>
            <a:off x="78638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Slot accumulation, override retraction, and choosing what to ask next.</a:t>
            </a:r>
            <a:endParaRPr lang="en-US" sz="1150" dirty="0"/>
          </a:p>
        </p:txBody>
      </p:sp>
      <p:sp>
        <p:nvSpPr>
          <p:cNvPr id="11" name="Shape 9"/>
          <p:cNvSpPr/>
          <p:nvPr/>
        </p:nvSpPr>
        <p:spPr>
          <a:xfrm>
            <a:off x="3355848" y="2048256"/>
            <a:ext cx="2688336" cy="3200400"/>
          </a:xfrm>
          <a:prstGeom prst="roundRect">
            <a:avLst>
              <a:gd name="adj" fmla="val 2041"/>
            </a:avLst>
          </a:prstGeom>
          <a:solidFill>
            <a:srgbClr val="13323B"/>
          </a:solidFill>
          <a:ln w="12700">
            <a:solidFill>
              <a:srgbClr val="13323B"/>
            </a:solidFill>
            <a:prstDash val="solid"/>
          </a:ln>
        </p:spPr>
      </p:sp>
      <p:sp>
        <p:nvSpPr>
          <p:cNvPr id="12" name="Shape 10"/>
          <p:cNvSpPr/>
          <p:nvPr/>
        </p:nvSpPr>
        <p:spPr>
          <a:xfrm>
            <a:off x="4133088" y="2286000"/>
            <a:ext cx="1133856" cy="1133856"/>
          </a:xfrm>
          <a:prstGeom prst="ellipse">
            <a:avLst/>
          </a:prstGeom>
          <a:solidFill>
            <a:srgbClr val="028090"/>
          </a:solidFill>
          <a:ln w="25400">
            <a:solidFill>
              <a:srgbClr val="02C39A"/>
            </a:solidFill>
            <a:prstDash val="solid"/>
          </a:ln>
        </p:spPr>
      </p:sp>
      <p:sp>
        <p:nvSpPr>
          <p:cNvPr id="13" name="Text 11"/>
          <p:cNvSpPr txBox="1"/>
          <p:nvPr/>
        </p:nvSpPr>
        <p:spPr>
          <a:xfrm>
            <a:off x="4133088" y="2286000"/>
            <a:ext cx="1133856" cy="1133856"/>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T2</a:t>
            </a:r>
            <a:endParaRPr lang="en-US" sz="3400" dirty="0"/>
          </a:p>
        </p:txBody>
      </p:sp>
      <p:sp>
        <p:nvSpPr>
          <p:cNvPr id="14" name="Text 12"/>
          <p:cNvSpPr txBox="1"/>
          <p:nvPr/>
        </p:nvSpPr>
        <p:spPr>
          <a:xfrm>
            <a:off x="353872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Teammate 2</a:t>
            </a:r>
            <a:endParaRPr lang="en-US" sz="1600" dirty="0"/>
          </a:p>
        </p:txBody>
      </p:sp>
      <p:sp>
        <p:nvSpPr>
          <p:cNvPr id="15" name="Text 13"/>
          <p:cNvSpPr txBox="1"/>
          <p:nvPr/>
        </p:nvSpPr>
        <p:spPr>
          <a:xfrm>
            <a:off x="353872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Evaluation</a:t>
            </a:r>
            <a:endParaRPr lang="en-US" sz="1250" dirty="0"/>
          </a:p>
        </p:txBody>
      </p:sp>
      <p:sp>
        <p:nvSpPr>
          <p:cNvPr id="16" name="Text 14"/>
          <p:cNvSpPr txBox="1"/>
          <p:nvPr/>
        </p:nvSpPr>
        <p:spPr>
          <a:xfrm>
            <a:off x="357530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Metric analysis, weight sweeps, and the experiments that killed three ideas.</a:t>
            </a:r>
            <a:endParaRPr lang="en-US" sz="1150" dirty="0"/>
          </a:p>
        </p:txBody>
      </p:sp>
      <p:sp>
        <p:nvSpPr>
          <p:cNvPr id="17" name="Shape 15"/>
          <p:cNvSpPr/>
          <p:nvPr/>
        </p:nvSpPr>
        <p:spPr>
          <a:xfrm>
            <a:off x="6144768" y="2048256"/>
            <a:ext cx="2688336" cy="3200400"/>
          </a:xfrm>
          <a:prstGeom prst="roundRect">
            <a:avLst>
              <a:gd name="adj" fmla="val 2041"/>
            </a:avLst>
          </a:prstGeom>
          <a:solidFill>
            <a:srgbClr val="13323B"/>
          </a:solidFill>
          <a:ln w="12700">
            <a:solidFill>
              <a:srgbClr val="13323B"/>
            </a:solidFill>
            <a:prstDash val="solid"/>
          </a:ln>
        </p:spPr>
      </p:sp>
      <p:sp>
        <p:nvSpPr>
          <p:cNvPr id="18" name="Shape 16"/>
          <p:cNvSpPr/>
          <p:nvPr/>
        </p:nvSpPr>
        <p:spPr>
          <a:xfrm>
            <a:off x="6922008" y="2286000"/>
            <a:ext cx="1133856" cy="1133856"/>
          </a:xfrm>
          <a:prstGeom prst="ellipse">
            <a:avLst/>
          </a:prstGeom>
          <a:solidFill>
            <a:srgbClr val="028090"/>
          </a:solidFill>
          <a:ln w="25400">
            <a:solidFill>
              <a:srgbClr val="02C39A"/>
            </a:solidFill>
            <a:prstDash val="solid"/>
          </a:ln>
        </p:spPr>
      </p:sp>
      <p:sp>
        <p:nvSpPr>
          <p:cNvPr id="19" name="Text 17"/>
          <p:cNvSpPr txBox="1"/>
          <p:nvPr/>
        </p:nvSpPr>
        <p:spPr>
          <a:xfrm>
            <a:off x="6922008" y="2286000"/>
            <a:ext cx="1133856" cy="1133856"/>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T3</a:t>
            </a:r>
            <a:endParaRPr lang="en-US" sz="3400" dirty="0"/>
          </a:p>
        </p:txBody>
      </p:sp>
      <p:sp>
        <p:nvSpPr>
          <p:cNvPr id="20" name="Text 18"/>
          <p:cNvSpPr txBox="1"/>
          <p:nvPr/>
        </p:nvSpPr>
        <p:spPr>
          <a:xfrm>
            <a:off x="632764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Teammate 3</a:t>
            </a:r>
            <a:endParaRPr lang="en-US" sz="1600" dirty="0"/>
          </a:p>
        </p:txBody>
      </p:sp>
      <p:sp>
        <p:nvSpPr>
          <p:cNvPr id="21" name="Text 19"/>
          <p:cNvSpPr txBox="1"/>
          <p:nvPr/>
        </p:nvSpPr>
        <p:spPr>
          <a:xfrm>
            <a:off x="632764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Retrieval</a:t>
            </a:r>
            <a:endParaRPr lang="en-US" sz="1250" dirty="0"/>
          </a:p>
        </p:txBody>
      </p:sp>
      <p:sp>
        <p:nvSpPr>
          <p:cNvPr id="22" name="Text 20"/>
          <p:cNvSpPr txBox="1"/>
          <p:nvPr/>
        </p:nvSpPr>
        <p:spPr>
          <a:xfrm>
            <a:off x="636422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Catalogue index, attribute extraction, and the constraint-coverage ranker.</a:t>
            </a:r>
            <a:endParaRPr lang="en-US" sz="1150" dirty="0"/>
          </a:p>
        </p:txBody>
      </p:sp>
      <p:sp>
        <p:nvSpPr>
          <p:cNvPr id="23" name="Shape 21"/>
          <p:cNvSpPr/>
          <p:nvPr/>
        </p:nvSpPr>
        <p:spPr>
          <a:xfrm>
            <a:off x="8933688" y="2048256"/>
            <a:ext cx="2688336" cy="3200400"/>
          </a:xfrm>
          <a:prstGeom prst="roundRect">
            <a:avLst>
              <a:gd name="adj" fmla="val 2041"/>
            </a:avLst>
          </a:prstGeom>
          <a:solidFill>
            <a:srgbClr val="13323B"/>
          </a:solidFill>
          <a:ln w="12700">
            <a:solidFill>
              <a:srgbClr val="13323B"/>
            </a:solidFill>
            <a:prstDash val="solid"/>
          </a:ln>
        </p:spPr>
      </p:sp>
      <p:sp>
        <p:nvSpPr>
          <p:cNvPr id="24" name="Shape 22"/>
          <p:cNvSpPr/>
          <p:nvPr/>
        </p:nvSpPr>
        <p:spPr>
          <a:xfrm>
            <a:off x="9710928" y="2286000"/>
            <a:ext cx="1133856" cy="1133856"/>
          </a:xfrm>
          <a:prstGeom prst="ellipse">
            <a:avLst/>
          </a:prstGeom>
          <a:solidFill>
            <a:srgbClr val="028090"/>
          </a:solidFill>
          <a:ln w="25400">
            <a:solidFill>
              <a:srgbClr val="02C39A"/>
            </a:solidFill>
            <a:prstDash val="solid"/>
          </a:ln>
        </p:spPr>
      </p:sp>
      <p:sp>
        <p:nvSpPr>
          <p:cNvPr id="25" name="Text 23"/>
          <p:cNvSpPr txBox="1"/>
          <p:nvPr/>
        </p:nvSpPr>
        <p:spPr>
          <a:xfrm>
            <a:off x="9710928" y="2286000"/>
            <a:ext cx="1133856" cy="1133856"/>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T4</a:t>
            </a:r>
            <a:endParaRPr lang="en-US" sz="3400" dirty="0"/>
          </a:p>
        </p:txBody>
      </p:sp>
      <p:sp>
        <p:nvSpPr>
          <p:cNvPr id="26" name="Text 24"/>
          <p:cNvSpPr txBox="1"/>
          <p:nvPr/>
        </p:nvSpPr>
        <p:spPr>
          <a:xfrm>
            <a:off x="911656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Teammate 4</a:t>
            </a:r>
            <a:endParaRPr lang="en-US" sz="1600" dirty="0"/>
          </a:p>
        </p:txBody>
      </p:sp>
      <p:sp>
        <p:nvSpPr>
          <p:cNvPr id="27" name="Text 25"/>
          <p:cNvSpPr txBox="1"/>
          <p:nvPr/>
        </p:nvSpPr>
        <p:spPr>
          <a:xfrm>
            <a:off x="911656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Integration</a:t>
            </a:r>
            <a:endParaRPr lang="en-US" sz="1250" dirty="0"/>
          </a:p>
        </p:txBody>
      </p:sp>
      <p:sp>
        <p:nvSpPr>
          <p:cNvPr id="28" name="Text 26"/>
          <p:cNvSpPr txBox="1"/>
          <p:nvPr/>
        </p:nvSpPr>
        <p:spPr>
          <a:xfrm>
            <a:off x="915314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Agent glue, contract conformance, 24 tests, and the submission package.</a:t>
            </a:r>
            <a:endParaRPr lang="en-US" sz="1150" dirty="0"/>
          </a:p>
        </p:txBody>
      </p:sp>
      <p:sp>
        <p:nvSpPr>
          <p:cNvPr id="29" name="Text 27"/>
          <p:cNvSpPr txBox="1"/>
          <p:nvPr/>
        </p:nvSpPr>
        <p:spPr>
          <a:xfrm>
            <a:off x="566928" y="5541264"/>
            <a:ext cx="11064240" cy="402336"/>
          </a:xfrm>
          <a:prstGeom prst="rect">
            <a:avLst/>
          </a:prstGeom>
          <a:noFill/>
          <a:ln/>
        </p:spPr>
        <p:txBody>
          <a:bodyPr wrap="square" lIns="0" tIns="0" rIns="0" bIns="0" rtlCol="0" anchor="ctr"/>
          <a:lstStyle/>
          <a:p>
            <a:pPr indent="0" marL="0">
              <a:buNone/>
            </a:pPr>
            <a:r>
              <a:rPr lang="en-US" sz="1350" i="1" dirty="0">
                <a:solidFill>
                  <a:srgbClr val="9FB4B8"/>
                </a:solidFill>
                <a:latin typeface="Calibri" pitchFamily="34" charset="0"/>
                <a:ea typeface="Calibri" pitchFamily="34" charset="-122"/>
                <a:cs typeface="Calibri" pitchFamily="34" charset="-120"/>
              </a:rPr>
              <a:t>No one owned a silo. The two costliest bugs were found by replaying sessions together, not by reading each other's diffs.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027"/>
        </a:solidFill>
      </p:bgPr>
    </p:bg>
    <p:spTree>
      <p:nvGrpSpPr>
        <p:cNvPr id="1" name=""/>
        <p:cNvGrpSpPr/>
        <p:nvPr/>
      </p:nvGrpSpPr>
      <p:grpSpPr>
        <a:xfrm>
          <a:off x="0" y="0"/>
          <a:ext cx="0" cy="0"/>
          <a:chOff x="0" y="0"/>
          <a:chExt cx="0" cy="0"/>
        </a:xfrm>
      </p:grpSpPr>
      <p:sp>
        <p:nvSpPr>
          <p:cNvPr id="2" name="Shape 0"/>
          <p:cNvSpPr/>
          <p:nvPr/>
        </p:nvSpPr>
        <p:spPr>
          <a:xfrm>
            <a:off x="566928" y="914400"/>
            <a:ext cx="1737360" cy="420624"/>
          </a:xfrm>
          <a:prstGeom prst="roundRect">
            <a:avLst>
              <a:gd name="adj" fmla="val 21739"/>
            </a:avLst>
          </a:prstGeom>
          <a:solidFill>
            <a:srgbClr val="02C39A"/>
          </a:solidFill>
          <a:ln w="12700">
            <a:solidFill>
              <a:srgbClr val="02C39A"/>
            </a:solidFill>
            <a:prstDash val="solid"/>
          </a:ln>
        </p:spPr>
      </p:sp>
      <p:sp>
        <p:nvSpPr>
          <p:cNvPr id="3" name="Text 1"/>
          <p:cNvSpPr txBox="1"/>
          <p:nvPr/>
        </p:nvSpPr>
        <p:spPr>
          <a:xfrm>
            <a:off x="566928" y="914400"/>
            <a:ext cx="1737360" cy="420624"/>
          </a:xfrm>
          <a:prstGeom prst="rect">
            <a:avLst/>
          </a:prstGeom>
          <a:noFill/>
          <a:ln/>
        </p:spPr>
        <p:txBody>
          <a:bodyPr wrap="square" lIns="0" tIns="0" rIns="0" bIns="0" rtlCol="0" anchor="ctr"/>
          <a:lstStyle/>
          <a:p>
            <a:pPr algn="ctr" indent="0" marL="0">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700784"/>
            <a:ext cx="108813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0.107  →  0.876</a:t>
            </a:r>
            <a:endParaRPr lang="en-US" sz="6000" dirty="0"/>
          </a:p>
        </p:txBody>
      </p:sp>
      <p:sp>
        <p:nvSpPr>
          <p:cNvPr id="5" name="Text 3"/>
          <p:cNvSpPr txBox="1"/>
          <p:nvPr/>
        </p:nvSpPr>
        <p:spPr>
          <a:xfrm>
            <a:off x="566928" y="2761488"/>
            <a:ext cx="10881360" cy="420624"/>
          </a:xfrm>
          <a:prstGeom prst="rect">
            <a:avLst/>
          </a:prstGeom>
          <a:noFill/>
          <a:ln/>
        </p:spPr>
        <p:txBody>
          <a:bodyPr wrap="square" lIns="0" tIns="0" rIns="0" bIns="0" rtlCol="0" anchor="ctr"/>
          <a:lstStyle/>
          <a:p>
            <a:pPr indent="0" marL="0">
              <a:buNone/>
            </a:pPr>
            <a:r>
              <a:rPr lang="en-US" sz="1900" dirty="0">
                <a:solidFill>
                  <a:srgbClr val="00A896"/>
                </a:solidFill>
                <a:latin typeface="Calibri" pitchFamily="34" charset="0"/>
                <a:ea typeface="Calibri" pitchFamily="34" charset="-122"/>
                <a:cs typeface="Calibri" pitchFamily="34" charset="-120"/>
              </a:rPr>
              <a:t>Eight measured stages. Three planned components cut on evidence. No model calls.</a:t>
            </a:r>
            <a:endParaRPr lang="en-US" sz="1900" dirty="0"/>
          </a:p>
        </p:txBody>
      </p:sp>
      <p:sp>
        <p:nvSpPr>
          <p:cNvPr id="6" name="Text 4"/>
          <p:cNvSpPr txBox="1"/>
          <p:nvPr/>
        </p:nvSpPr>
        <p:spPr>
          <a:xfrm>
            <a:off x="566928"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Deep understanding</a:t>
            </a:r>
            <a:endParaRPr lang="en-US" sz="1600" dirty="0"/>
          </a:p>
        </p:txBody>
      </p:sp>
      <p:sp>
        <p:nvSpPr>
          <p:cNvPr id="7" name="Text 5"/>
          <p:cNvSpPr txBox="1"/>
          <p:nvPr/>
        </p:nvSpPr>
        <p:spPr>
          <a:xfrm>
            <a:off x="566928"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We read the evaluator to learn what the agent could observe, then designed to that.</a:t>
            </a:r>
            <a:endParaRPr lang="en-US" sz="1300" dirty="0"/>
          </a:p>
        </p:txBody>
      </p:sp>
      <p:sp>
        <p:nvSpPr>
          <p:cNvPr id="8" name="Text 6"/>
          <p:cNvSpPr txBox="1"/>
          <p:nvPr/>
        </p:nvSpPr>
        <p:spPr>
          <a:xfrm>
            <a:off x="4343400"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Measured, not assumed</a:t>
            </a:r>
            <a:endParaRPr lang="en-US" sz="1600" dirty="0"/>
          </a:p>
        </p:txBody>
      </p:sp>
      <p:sp>
        <p:nvSpPr>
          <p:cNvPr id="9" name="Text 7"/>
          <p:cNvSpPr txBox="1"/>
          <p:nvPr/>
        </p:nvSpPr>
        <p:spPr>
          <a:xfrm>
            <a:off x="4343400"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Every weight swept, every gain attributed, every rejection reproducible.</a:t>
            </a:r>
            <a:endParaRPr lang="en-US" sz="1300" dirty="0"/>
          </a:p>
        </p:txBody>
      </p:sp>
      <p:sp>
        <p:nvSpPr>
          <p:cNvPr id="10" name="Text 8"/>
          <p:cNvSpPr txBox="1"/>
          <p:nvPr/>
        </p:nvSpPr>
        <p:spPr>
          <a:xfrm>
            <a:off x="8119872"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Honest about limits</a:t>
            </a:r>
            <a:endParaRPr lang="en-US" sz="1600" dirty="0"/>
          </a:p>
        </p:txBody>
      </p:sp>
      <p:sp>
        <p:nvSpPr>
          <p:cNvPr id="11" name="Text 9"/>
          <p:cNvSpPr txBox="1"/>
          <p:nvPr/>
        </p:nvSpPr>
        <p:spPr>
          <a:xfrm>
            <a:off x="8119872"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We publish the assumptions our score leans on, and the ideas that failed.</a:t>
            </a:r>
            <a:endParaRPr lang="en-US" sz="1300" dirty="0"/>
          </a:p>
        </p:txBody>
      </p:sp>
      <p:sp>
        <p:nvSpPr>
          <p:cNvPr id="12" name="Text 10"/>
          <p:cNvSpPr txBox="1"/>
          <p:nvPr/>
        </p:nvSpPr>
        <p:spPr>
          <a:xfrm>
            <a:off x="566928" y="5742432"/>
            <a:ext cx="108813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github.com/yongc0/nailong---TikTok-TechJam-2026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Shopping Copilot — Team nailong</dc:title>
  <dc:subject>PptxGenJS Presentation</dc:subject>
  <dc:creator>Team nailong</dc:creator>
  <cp:lastModifiedBy>Team nailong</cp:lastModifiedBy>
  <cp:revision>1</cp:revision>
  <dcterms:created xsi:type="dcterms:W3CDTF">2026-08-29T14:47:07Z</dcterms:created>
  <dcterms:modified xsi:type="dcterms:W3CDTF">2026-08-29T14:47:07Z</dcterms:modified>
</cp:coreProperties>
</file>